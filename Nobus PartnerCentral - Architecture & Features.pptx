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324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3245C"/>
          </a:solidFill>
          <a:ln/>
        </p:spPr>
      </p:sp>
      <p:sp>
        <p:nvSpPr>
          <p:cNvPr id="3" name="Shape 1"/>
          <p:cNvSpPr/>
          <p:nvPr/>
        </p:nvSpPr>
        <p:spPr>
          <a:xfrm>
            <a:off x="777240" y="731520"/>
            <a:ext cx="868680" cy="868680"/>
          </a:xfrm>
          <a:prstGeom prst="roundRect">
            <a:avLst>
              <a:gd name="adj" fmla="val 18947"/>
            </a:avLst>
          </a:prstGeom>
          <a:solidFill>
            <a:srgbClr val="0052CC"/>
          </a:solidFill>
          <a:ln/>
        </p:spPr>
      </p:sp>
      <p:sp>
        <p:nvSpPr>
          <p:cNvPr id="4" name="Shape 2"/>
          <p:cNvSpPr/>
          <p:nvPr/>
        </p:nvSpPr>
        <p:spPr>
          <a:xfrm rot="5400000">
            <a:off x="969264" y="932688"/>
            <a:ext cx="256032" cy="457200"/>
          </a:xfrm>
          <a:prstGeom prst="triangle">
            <a:avLst/>
          </a:prstGeom>
          <a:solidFill>
            <a:srgbClr val="00C9A7"/>
          </a:solidFill>
          <a:ln/>
        </p:spPr>
      </p:sp>
      <p:sp>
        <p:nvSpPr>
          <p:cNvPr id="5" name="Shape 3"/>
          <p:cNvSpPr/>
          <p:nvPr/>
        </p:nvSpPr>
        <p:spPr>
          <a:xfrm rot="5400000">
            <a:off x="1207008" y="932688"/>
            <a:ext cx="256032" cy="457200"/>
          </a:xfrm>
          <a:prstGeom prst="triangle">
            <a:avLst/>
          </a:prstGeom>
          <a:solidFill>
            <a:srgbClr val="FFFFFF"/>
          </a:solidFill>
          <a:ln/>
        </p:spPr>
      </p:sp>
      <p:sp>
        <p:nvSpPr>
          <p:cNvPr id="6" name="Text 4"/>
          <p:cNvSpPr/>
          <p:nvPr/>
        </p:nvSpPr>
        <p:spPr>
          <a:xfrm>
            <a:off x="1783080" y="786384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8AB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NOBUS CLOUD SERVICES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801368" y="10972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9D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Partner Enablement Platform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77240" y="2468880"/>
            <a:ext cx="10607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Nobus PartnerCentral</a:t>
            </a:r>
            <a:endParaRPr lang="en-US" sz="5200" dirty="0"/>
          </a:p>
        </p:txBody>
      </p:sp>
      <p:sp>
        <p:nvSpPr>
          <p:cNvPr id="9" name="Text 7"/>
          <p:cNvSpPr/>
          <p:nvPr/>
        </p:nvSpPr>
        <p:spPr>
          <a:xfrm>
            <a:off x="822960" y="3429000"/>
            <a:ext cx="10607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Architecture &amp; Feature Reference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822960" y="4114800"/>
            <a:ext cx="96926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8AB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technical walkthrough of the system design, data model, security model, and the enablement, LMS, and partner-relationship features that make up the platform.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822960" y="5806440"/>
            <a:ext cx="2148840" cy="457200"/>
          </a:xfrm>
          <a:prstGeom prst="roundRect">
            <a:avLst>
              <a:gd name="adj" fmla="val 50000"/>
            </a:avLst>
          </a:prstGeom>
          <a:solidFill>
            <a:srgbClr val="1B336E"/>
          </a:solidFill>
          <a:ln w="12700">
            <a:solidFill>
              <a:srgbClr val="2E6B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22960" y="5806440"/>
            <a:ext cx="2148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SPA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154680" y="5806440"/>
            <a:ext cx="2148840" cy="457200"/>
          </a:xfrm>
          <a:prstGeom prst="roundRect">
            <a:avLst>
              <a:gd name="adj" fmla="val 50000"/>
            </a:avLst>
          </a:prstGeom>
          <a:solidFill>
            <a:srgbClr val="1B336E"/>
          </a:solidFill>
          <a:ln w="12700">
            <a:solidFill>
              <a:srgbClr val="2E6B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154680" y="5806440"/>
            <a:ext cx="2148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Express REST API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486400" y="5806440"/>
            <a:ext cx="2148840" cy="457200"/>
          </a:xfrm>
          <a:prstGeom prst="roundRect">
            <a:avLst>
              <a:gd name="adj" fmla="val 50000"/>
            </a:avLst>
          </a:prstGeom>
          <a:solidFill>
            <a:srgbClr val="1B336E"/>
          </a:solidFill>
          <a:ln w="12700">
            <a:solidFill>
              <a:srgbClr val="2E6B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86400" y="5806440"/>
            <a:ext cx="2148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 / WAL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7818120" y="5806440"/>
            <a:ext cx="2148840" cy="457200"/>
          </a:xfrm>
          <a:prstGeom prst="roundRect">
            <a:avLst>
              <a:gd name="adj" fmla="val 50000"/>
            </a:avLst>
          </a:prstGeom>
          <a:solidFill>
            <a:srgbClr val="1B336E"/>
          </a:solidFill>
          <a:ln w="12700">
            <a:solidFill>
              <a:srgbClr val="2E6B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818120" y="5806440"/>
            <a:ext cx="2148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Auth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9509760" y="6309360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8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for peer review  ·  v2.0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D5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30352" y="603504"/>
            <a:ext cx="11155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245C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What Nobus PartnerCentral Is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658368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8000"/>
              </a:lnSpc>
              <a:spcAft>
                <a:spcPts val="1000"/>
              </a:spcAft>
              <a:buNone/>
            </a:pPr>
            <a:r>
              <a:rPr lang="en-US" sz="1500" dirty="0">
                <a:solidFill>
                  <a:srgbClr val="1C2333"/>
                </a:solidFill>
              </a:rPr>
              <a:t>A single web platform Nobus uses to recruit, train, certify, and grow its channel partners — combining a learning management system (LMS) with partner-relationship management (PRM) and sales-enablement tooling.</a:t>
            </a:r>
            <a:pPr indent="0" marL="0">
              <a:lnSpc>
                <a:spcPct val="118000"/>
              </a:lnSpc>
              <a:buNone/>
            </a:pPr>
            <a:r>
              <a:rPr lang="en-US" sz="1500" dirty="0">
                <a:solidFill>
                  <a:srgbClr val="1C2333"/>
                </a:solidFill>
              </a:rPr>
              <a:t>Partners register their organisation, train their sales / presales / technical staff, climb a tiered partner program, register deals for channel-conflict protection, manage a pipeline, build customer quotes, and book demo labs — all in one portal. Nobus staff run everything from an unlisted operations console.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7543800" y="1463040"/>
            <a:ext cx="4114800" cy="123444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D9E2F2"/>
            </a:solidFill>
            <a:prstDash val="solid"/>
          </a:ln>
          <a:effectLst>
            <a:outerShdw sx="100000" sy="100000" kx="0" ky="0" algn="bl" rotWithShape="0" blurRad="88900" dist="25400" dir="5400000">
              <a:srgbClr val="9BB0D6">
                <a:alpha val="2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726680" y="1572768"/>
            <a:ext cx="1371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1D54E8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3</a:t>
            </a:r>
            <a:endParaRPr lang="en-US" sz="4600" dirty="0"/>
          </a:p>
        </p:txBody>
      </p:sp>
      <p:sp>
        <p:nvSpPr>
          <p:cNvPr id="7" name="Text 5"/>
          <p:cNvSpPr/>
          <p:nvPr/>
        </p:nvSpPr>
        <p:spPr>
          <a:xfrm>
            <a:off x="9098280" y="1682496"/>
            <a:ext cx="2423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1324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ROLES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9098280" y="1993392"/>
            <a:ext cx="24688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5A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Super-admin, org-admin, partner user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7543800" y="2880360"/>
            <a:ext cx="4114800" cy="123444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D9E2F2"/>
            </a:solidFill>
            <a:prstDash val="solid"/>
          </a:ln>
          <a:effectLst>
            <a:outerShdw sx="100000" sy="100000" kx="0" ky="0" algn="bl" rotWithShape="0" blurRad="88900" dist="25400" dir="5400000">
              <a:srgbClr val="9BB0D6">
                <a:alpha val="2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7726680" y="2990088"/>
            <a:ext cx="1371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1D54E8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15</a:t>
            </a:r>
            <a:endParaRPr lang="en-US" sz="4600" dirty="0"/>
          </a:p>
        </p:txBody>
      </p:sp>
      <p:sp>
        <p:nvSpPr>
          <p:cNvPr id="11" name="Text 9"/>
          <p:cNvSpPr/>
          <p:nvPr/>
        </p:nvSpPr>
        <p:spPr>
          <a:xfrm>
            <a:off x="9098280" y="3099816"/>
            <a:ext cx="2423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1324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ROUTE GROUPS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9098280" y="3410712"/>
            <a:ext cx="24688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5A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Auth, orgs, progress, deals, labs…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7543800" y="4297680"/>
            <a:ext cx="4114800" cy="123444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D9E2F2"/>
            </a:solidFill>
            <a:prstDash val="solid"/>
          </a:ln>
          <a:effectLst>
            <a:outerShdw sx="100000" sy="100000" kx="0" ky="0" algn="bl" rotWithShape="0" blurRad="88900" dist="25400" dir="5400000">
              <a:srgbClr val="9BB0D6">
                <a:alpha val="2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7726680" y="4407408"/>
            <a:ext cx="1371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1D54E8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5</a:t>
            </a:r>
            <a:endParaRPr lang="en-US" sz="4600" dirty="0"/>
          </a:p>
        </p:txBody>
      </p:sp>
      <p:sp>
        <p:nvSpPr>
          <p:cNvPr id="15" name="Text 13"/>
          <p:cNvSpPr/>
          <p:nvPr/>
        </p:nvSpPr>
        <p:spPr>
          <a:xfrm>
            <a:off x="9098280" y="4517136"/>
            <a:ext cx="2423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1324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PARTNER TIERS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9098280" y="4828032"/>
            <a:ext cx="24688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5A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Registered → Silver → Gold → Platinum → Elite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548640" y="5029200"/>
            <a:ext cx="6583680" cy="1234440"/>
          </a:xfrm>
          <a:prstGeom prst="roundRect">
            <a:avLst>
              <a:gd name="adj" fmla="val 6667"/>
            </a:avLst>
          </a:prstGeom>
          <a:solidFill>
            <a:srgbClr val="EEF4FF"/>
          </a:solidFill>
          <a:ln w="12700">
            <a:solidFill>
              <a:srgbClr val="DCE8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31520" y="513892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D5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uses it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731520" y="5440680"/>
            <a:ext cx="626364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3245C"/>
                </a:solidFill>
              </a:rPr>
              <a:t>Partner staff  </a:t>
            </a:r>
            <a:pPr indent="0" marL="0">
              <a:buNone/>
            </a:pPr>
            <a:r>
              <a:rPr lang="en-US" sz="1350" dirty="0">
                <a:solidFill>
                  <a:srgbClr val="5A6577"/>
                </a:solidFill>
              </a:rPr>
              <a:t>learn &amp; sell   ·   </a:t>
            </a:r>
            <a:pPr indent="0" marL="0">
              <a:buNone/>
            </a:pPr>
            <a:r>
              <a:rPr lang="en-US" sz="1350" b="1" dirty="0">
                <a:solidFill>
                  <a:srgbClr val="13245C"/>
                </a:solidFill>
              </a:rPr>
              <a:t>Partner admins  </a:t>
            </a:r>
            <a:pPr indent="0" marL="0">
              <a:buNone/>
            </a:pPr>
            <a:r>
              <a:rPr lang="en-US" sz="1350" dirty="0">
                <a:solidFill>
                  <a:srgbClr val="5A6577"/>
                </a:solidFill>
              </a:rPr>
              <a:t>manage their org   ·   </a:t>
            </a:r>
            <a:pPr indent="0" marL="0">
              <a:buNone/>
            </a:pPr>
            <a:r>
              <a:rPr lang="en-US" sz="1350" b="1" dirty="0">
                <a:solidFill>
                  <a:srgbClr val="13245C"/>
                </a:solidFill>
              </a:rPr>
              <a:t>Nobus staff  </a:t>
            </a:r>
            <a:pPr indent="0" marL="0">
              <a:buNone/>
            </a:pPr>
            <a:r>
              <a:rPr lang="en-US" sz="1350" dirty="0">
                <a:solidFill>
                  <a:srgbClr val="5A6577"/>
                </a:solidFill>
              </a:rPr>
              <a:t>run the program</a:t>
            </a:r>
            <a:endParaRPr lang="en-US" sz="13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D5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DESIGN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30352" y="603504"/>
            <a:ext cx="11155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245C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Three-Tier Architecture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3429000" cy="3703320"/>
          </a:xfrm>
          <a:prstGeom prst="roundRect">
            <a:avLst>
              <a:gd name="adj" fmla="val 2400"/>
            </a:avLst>
          </a:prstGeom>
          <a:solidFill>
            <a:srgbClr val="FFFFFF"/>
          </a:solidFill>
          <a:ln w="12700">
            <a:solidFill>
              <a:srgbClr val="D9E2F2"/>
            </a:solidFill>
            <a:prstDash val="solid"/>
          </a:ln>
          <a:effectLst>
            <a:outerShdw sx="100000" sy="100000" kx="0" ky="0" algn="bl" rotWithShape="0" blurRad="88900" dist="25400" dir="5400000">
              <a:srgbClr val="9BB0D6">
                <a:alpha val="2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554480"/>
            <a:ext cx="3429000" cy="868680"/>
          </a:xfrm>
          <a:prstGeom prst="roundRect">
            <a:avLst>
              <a:gd name="adj" fmla="val 9474"/>
            </a:avLst>
          </a:prstGeom>
          <a:solidFill>
            <a:srgbClr val="13245C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2057400"/>
            <a:ext cx="3429000" cy="365760"/>
          </a:xfrm>
          <a:prstGeom prst="rect">
            <a:avLst/>
          </a:prstGeom>
          <a:solidFill>
            <a:srgbClr val="13245C"/>
          </a:solidFill>
          <a:ln/>
        </p:spPr>
      </p:sp>
      <p:sp>
        <p:nvSpPr>
          <p:cNvPr id="7" name="Text 5"/>
          <p:cNvSpPr/>
          <p:nvPr/>
        </p:nvSpPr>
        <p:spPr>
          <a:xfrm>
            <a:off x="594360" y="1673352"/>
            <a:ext cx="3337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8AB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PRESENTATION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94360" y="1938528"/>
            <a:ext cx="3337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React 18 SPA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40080" y="2560320"/>
            <a:ext cx="3246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1D5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Vite · Tailwind · React Router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804672" y="3072384"/>
            <a:ext cx="109728" cy="109728"/>
          </a:xfrm>
          <a:prstGeom prst="ellipse">
            <a:avLst/>
          </a:prstGeom>
          <a:solidFill>
            <a:srgbClr val="00C9A7"/>
          </a:solidFill>
          <a:ln/>
        </p:spPr>
      </p:sp>
      <p:sp>
        <p:nvSpPr>
          <p:cNvPr id="11" name="Text 9"/>
          <p:cNvSpPr/>
          <p:nvPr/>
        </p:nvSpPr>
        <p:spPr>
          <a:xfrm>
            <a:off x="1024128" y="2971800"/>
            <a:ext cx="274320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1C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Partner portal + admin console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804672" y="3730752"/>
            <a:ext cx="109728" cy="109728"/>
          </a:xfrm>
          <a:prstGeom prst="ellipse">
            <a:avLst/>
          </a:prstGeom>
          <a:solidFill>
            <a:srgbClr val="00C9A7"/>
          </a:solidFill>
          <a:ln/>
        </p:spPr>
      </p:sp>
      <p:sp>
        <p:nvSpPr>
          <p:cNvPr id="13" name="Text 11"/>
          <p:cNvSpPr/>
          <p:nvPr/>
        </p:nvSpPr>
        <p:spPr>
          <a:xfrm>
            <a:off x="1024128" y="3630168"/>
            <a:ext cx="274320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1C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providers: Auth, Progress, Country, i18n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804672" y="4389120"/>
            <a:ext cx="109728" cy="109728"/>
          </a:xfrm>
          <a:prstGeom prst="ellipse">
            <a:avLst/>
          </a:prstGeom>
          <a:solidFill>
            <a:srgbClr val="00C9A7"/>
          </a:solidFill>
          <a:ln/>
        </p:spPr>
      </p:sp>
      <p:sp>
        <p:nvSpPr>
          <p:cNvPr id="15" name="Text 13"/>
          <p:cNvSpPr/>
          <p:nvPr/>
        </p:nvSpPr>
        <p:spPr>
          <a:xfrm>
            <a:off x="1024128" y="4288536"/>
            <a:ext cx="274320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1C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stored client-side; attached as Bearer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4617720" y="1554480"/>
            <a:ext cx="3429000" cy="3703320"/>
          </a:xfrm>
          <a:prstGeom prst="roundRect">
            <a:avLst>
              <a:gd name="adj" fmla="val 2400"/>
            </a:avLst>
          </a:prstGeom>
          <a:solidFill>
            <a:srgbClr val="FFFFFF"/>
          </a:solidFill>
          <a:ln w="12700">
            <a:solidFill>
              <a:srgbClr val="D9E2F2"/>
            </a:solidFill>
            <a:prstDash val="solid"/>
          </a:ln>
          <a:effectLst>
            <a:outerShdw sx="100000" sy="100000" kx="0" ky="0" algn="bl" rotWithShape="0" blurRad="88900" dist="25400" dir="5400000">
              <a:srgbClr val="9BB0D6">
                <a:alpha val="2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617720" y="1554480"/>
            <a:ext cx="3429000" cy="868680"/>
          </a:xfrm>
          <a:prstGeom prst="roundRect">
            <a:avLst>
              <a:gd name="adj" fmla="val 9474"/>
            </a:avLst>
          </a:prstGeom>
          <a:solidFill>
            <a:srgbClr val="1D54E8"/>
          </a:solidFill>
          <a:ln/>
        </p:spPr>
      </p:sp>
      <p:sp>
        <p:nvSpPr>
          <p:cNvPr id="18" name="Shape 16"/>
          <p:cNvSpPr/>
          <p:nvPr/>
        </p:nvSpPr>
        <p:spPr>
          <a:xfrm>
            <a:off x="4617720" y="2057400"/>
            <a:ext cx="3429000" cy="365760"/>
          </a:xfrm>
          <a:prstGeom prst="rect">
            <a:avLst/>
          </a:prstGeom>
          <a:solidFill>
            <a:srgbClr val="1D54E8"/>
          </a:solidFill>
          <a:ln/>
        </p:spPr>
      </p:sp>
      <p:sp>
        <p:nvSpPr>
          <p:cNvPr id="19" name="Text 17"/>
          <p:cNvSpPr/>
          <p:nvPr/>
        </p:nvSpPr>
        <p:spPr>
          <a:xfrm>
            <a:off x="4663440" y="1673352"/>
            <a:ext cx="3337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663440" y="1938528"/>
            <a:ext cx="3337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Express REST API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4709160" y="2560320"/>
            <a:ext cx="3246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1D5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 · 15 route modules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873752" y="3072384"/>
            <a:ext cx="109728" cy="109728"/>
          </a:xfrm>
          <a:prstGeom prst="ellipse">
            <a:avLst/>
          </a:prstGeom>
          <a:solidFill>
            <a:srgbClr val="00C9A7"/>
          </a:solidFill>
          <a:ln/>
        </p:spPr>
      </p:sp>
      <p:sp>
        <p:nvSpPr>
          <p:cNvPr id="23" name="Text 21"/>
          <p:cNvSpPr/>
          <p:nvPr/>
        </p:nvSpPr>
        <p:spPr>
          <a:xfrm>
            <a:off x="5093208" y="2971800"/>
            <a:ext cx="274320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1C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Stateless JSON API under /api/*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4873752" y="3730752"/>
            <a:ext cx="109728" cy="109728"/>
          </a:xfrm>
          <a:prstGeom prst="ellipse">
            <a:avLst/>
          </a:prstGeom>
          <a:solidFill>
            <a:srgbClr val="00C9A7"/>
          </a:solidFill>
          <a:ln/>
        </p:spPr>
      </p:sp>
      <p:sp>
        <p:nvSpPr>
          <p:cNvPr id="25" name="Text 23"/>
          <p:cNvSpPr/>
          <p:nvPr/>
        </p:nvSpPr>
        <p:spPr>
          <a:xfrm>
            <a:off x="5093208" y="3630168"/>
            <a:ext cx="274320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1C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Helmet, CORS allow-list, rate limiting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4873752" y="4389120"/>
            <a:ext cx="109728" cy="109728"/>
          </a:xfrm>
          <a:prstGeom prst="ellipse">
            <a:avLst/>
          </a:prstGeom>
          <a:solidFill>
            <a:srgbClr val="00C9A7"/>
          </a:solidFill>
          <a:ln/>
        </p:spPr>
      </p:sp>
      <p:sp>
        <p:nvSpPr>
          <p:cNvPr id="27" name="Text 25"/>
          <p:cNvSpPr/>
          <p:nvPr/>
        </p:nvSpPr>
        <p:spPr>
          <a:xfrm>
            <a:off x="5093208" y="4288536"/>
            <a:ext cx="274320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1C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auth + role middleware + audit log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8686800" y="1554480"/>
            <a:ext cx="3429000" cy="3703320"/>
          </a:xfrm>
          <a:prstGeom prst="roundRect">
            <a:avLst>
              <a:gd name="adj" fmla="val 2400"/>
            </a:avLst>
          </a:prstGeom>
          <a:solidFill>
            <a:srgbClr val="FFFFFF"/>
          </a:solidFill>
          <a:ln w="12700">
            <a:solidFill>
              <a:srgbClr val="D9E2F2"/>
            </a:solidFill>
            <a:prstDash val="solid"/>
          </a:ln>
          <a:effectLst>
            <a:outerShdw sx="100000" sy="100000" kx="0" ky="0" algn="bl" rotWithShape="0" blurRad="88900" dist="25400" dir="5400000">
              <a:srgbClr val="9BB0D6">
                <a:alpha val="28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8686800" y="1554480"/>
            <a:ext cx="3429000" cy="868680"/>
          </a:xfrm>
          <a:prstGeom prst="roundRect">
            <a:avLst>
              <a:gd name="adj" fmla="val 9474"/>
            </a:avLst>
          </a:prstGeom>
          <a:solidFill>
            <a:srgbClr val="13245C"/>
          </a:solidFill>
          <a:ln/>
        </p:spPr>
      </p:sp>
      <p:sp>
        <p:nvSpPr>
          <p:cNvPr id="30" name="Shape 28"/>
          <p:cNvSpPr/>
          <p:nvPr/>
        </p:nvSpPr>
        <p:spPr>
          <a:xfrm>
            <a:off x="8686800" y="2057400"/>
            <a:ext cx="3429000" cy="365760"/>
          </a:xfrm>
          <a:prstGeom prst="rect">
            <a:avLst/>
          </a:prstGeom>
          <a:solidFill>
            <a:srgbClr val="13245C"/>
          </a:solidFill>
          <a:ln/>
        </p:spPr>
      </p:sp>
      <p:sp>
        <p:nvSpPr>
          <p:cNvPr id="31" name="Text 29"/>
          <p:cNvSpPr/>
          <p:nvPr/>
        </p:nvSpPr>
        <p:spPr>
          <a:xfrm>
            <a:off x="8732520" y="1673352"/>
            <a:ext cx="3337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8AB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8732520" y="1938528"/>
            <a:ext cx="3337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SQLite (better-sqlite3)</a:t>
            </a:r>
            <a:endParaRPr lang="en-US" sz="1800" dirty="0"/>
          </a:p>
        </p:txBody>
      </p:sp>
      <p:sp>
        <p:nvSpPr>
          <p:cNvPr id="33" name="Text 31"/>
          <p:cNvSpPr/>
          <p:nvPr/>
        </p:nvSpPr>
        <p:spPr>
          <a:xfrm>
            <a:off x="8778240" y="2560320"/>
            <a:ext cx="3246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1D5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 mode · FK enforced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8942832" y="3072384"/>
            <a:ext cx="109728" cy="109728"/>
          </a:xfrm>
          <a:prstGeom prst="ellipse">
            <a:avLst/>
          </a:prstGeom>
          <a:solidFill>
            <a:srgbClr val="00C9A7"/>
          </a:solidFill>
          <a:ln/>
        </p:spPr>
      </p:sp>
      <p:sp>
        <p:nvSpPr>
          <p:cNvPr id="35" name="Text 33"/>
          <p:cNvSpPr/>
          <p:nvPr/>
        </p:nvSpPr>
        <p:spPr>
          <a:xfrm>
            <a:off x="9162288" y="2971800"/>
            <a:ext cx="274320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1C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~25 tables: users, orgs, progress…</a:t>
            </a:r>
            <a:endParaRPr lang="en-US" sz="1150" dirty="0"/>
          </a:p>
        </p:txBody>
      </p:sp>
      <p:sp>
        <p:nvSpPr>
          <p:cNvPr id="36" name="Shape 34"/>
          <p:cNvSpPr/>
          <p:nvPr/>
        </p:nvSpPr>
        <p:spPr>
          <a:xfrm>
            <a:off x="8942832" y="3730752"/>
            <a:ext cx="109728" cy="109728"/>
          </a:xfrm>
          <a:prstGeom prst="ellipse">
            <a:avLst/>
          </a:prstGeom>
          <a:solidFill>
            <a:srgbClr val="00C9A7"/>
          </a:solidFill>
          <a:ln/>
        </p:spPr>
      </p:sp>
      <p:sp>
        <p:nvSpPr>
          <p:cNvPr id="37" name="Text 35"/>
          <p:cNvSpPr/>
          <p:nvPr/>
        </p:nvSpPr>
        <p:spPr>
          <a:xfrm>
            <a:off x="9162288" y="3630168"/>
            <a:ext cx="274320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1C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Synchronous, in-process, file-backed</a:t>
            </a:r>
            <a:endParaRPr lang="en-US" sz="1150" dirty="0"/>
          </a:p>
        </p:txBody>
      </p:sp>
      <p:sp>
        <p:nvSpPr>
          <p:cNvPr id="38" name="Shape 36"/>
          <p:cNvSpPr/>
          <p:nvPr/>
        </p:nvSpPr>
        <p:spPr>
          <a:xfrm>
            <a:off x="8942832" y="4389120"/>
            <a:ext cx="109728" cy="109728"/>
          </a:xfrm>
          <a:prstGeom prst="ellipse">
            <a:avLst/>
          </a:prstGeom>
          <a:solidFill>
            <a:srgbClr val="00C9A7"/>
          </a:solidFill>
          <a:ln/>
        </p:spPr>
      </p:sp>
      <p:sp>
        <p:nvSpPr>
          <p:cNvPr id="39" name="Text 37"/>
          <p:cNvSpPr/>
          <p:nvPr/>
        </p:nvSpPr>
        <p:spPr>
          <a:xfrm>
            <a:off x="9162288" y="4288536"/>
            <a:ext cx="274320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1C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 / CSV / XLSX generated on demand</a:t>
            </a:r>
            <a:endParaRPr lang="en-US" sz="1150" dirty="0"/>
          </a:p>
        </p:txBody>
      </p:sp>
      <p:sp>
        <p:nvSpPr>
          <p:cNvPr id="40" name="Shape 38"/>
          <p:cNvSpPr/>
          <p:nvPr/>
        </p:nvSpPr>
        <p:spPr>
          <a:xfrm>
            <a:off x="3977640" y="3154680"/>
            <a:ext cx="621792" cy="502920"/>
          </a:xfrm>
          <a:prstGeom prst="rightArrow">
            <a:avLst/>
          </a:prstGeom>
          <a:solidFill>
            <a:srgbClr val="2E6BFF"/>
          </a:solidFill>
          <a:ln/>
        </p:spPr>
      </p:sp>
      <p:sp>
        <p:nvSpPr>
          <p:cNvPr id="41" name="Shape 39"/>
          <p:cNvSpPr/>
          <p:nvPr/>
        </p:nvSpPr>
        <p:spPr>
          <a:xfrm>
            <a:off x="8046720" y="3154680"/>
            <a:ext cx="621792" cy="502920"/>
          </a:xfrm>
          <a:prstGeom prst="rightArrow">
            <a:avLst/>
          </a:prstGeom>
          <a:solidFill>
            <a:srgbClr val="2E6BFF"/>
          </a:solidFill>
          <a:ln/>
        </p:spPr>
      </p:sp>
      <p:sp>
        <p:nvSpPr>
          <p:cNvPr id="42" name="Text 40"/>
          <p:cNvSpPr/>
          <p:nvPr/>
        </p:nvSpPr>
        <p:spPr>
          <a:xfrm>
            <a:off x="548640" y="544068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5A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HTTPS · JSON over Bearer-token requests</a:t>
            </a:r>
            <a:endParaRPr lang="en-US" sz="1200" dirty="0"/>
          </a:p>
        </p:txBody>
      </p:sp>
      <p:sp>
        <p:nvSpPr>
          <p:cNvPr id="43" name="Shape 41"/>
          <p:cNvSpPr/>
          <p:nvPr/>
        </p:nvSpPr>
        <p:spPr>
          <a:xfrm>
            <a:off x="548640" y="5852160"/>
            <a:ext cx="11091672" cy="658368"/>
          </a:xfrm>
          <a:prstGeom prst="roundRect">
            <a:avLst>
              <a:gd name="adj" fmla="val 12500"/>
            </a:avLst>
          </a:prstGeom>
          <a:solidFill>
            <a:srgbClr val="EEF4FF"/>
          </a:solidFill>
          <a:ln w="12700">
            <a:solidFill>
              <a:srgbClr val="DCE8FF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731520" y="5897880"/>
            <a:ext cx="107899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3245C"/>
                </a:solidFill>
              </a:rPr>
              <a:t>Same-origin in production:  </a:t>
            </a:r>
            <a:pPr indent="0" marL="0">
              <a:buNone/>
            </a:pPr>
            <a:r>
              <a:rPr lang="en-US" sz="1250" dirty="0">
                <a:solidFill>
                  <a:srgbClr val="1C2333"/>
                </a:solidFill>
              </a:rPr>
              <a:t>the Express server serves the built SPA from /dist and answers the API on the same host — one deployable unit, no separate CORS surface.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D5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PRESENTATION TIER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30352" y="603504"/>
            <a:ext cx="11155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245C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Frontend — React SPA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5440680" cy="1600200"/>
          </a:xfrm>
          <a:prstGeom prst="roundRect">
            <a:avLst>
              <a:gd name="adj" fmla="val 5143"/>
            </a:avLst>
          </a:prstGeom>
          <a:solidFill>
            <a:srgbClr val="FFFFFF"/>
          </a:solidFill>
          <a:ln w="12700">
            <a:solidFill>
              <a:srgbClr val="D9E2F2"/>
            </a:solidFill>
            <a:prstDash val="solid"/>
          </a:ln>
          <a:effectLst>
            <a:outerShdw sx="100000" sy="100000" kx="0" ky="0" algn="bl" rotWithShape="0" blurRad="88900" dist="25400" dir="5400000">
              <a:srgbClr val="9BB0D6">
                <a:alpha val="2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04672" y="1764792"/>
            <a:ext cx="457200" cy="457200"/>
          </a:xfrm>
          <a:prstGeom prst="ellipse">
            <a:avLst/>
          </a:prstGeom>
          <a:solidFill>
            <a:srgbClr val="1D54E8"/>
          </a:solidFill>
          <a:ln/>
        </p:spPr>
      </p:sp>
      <p:sp>
        <p:nvSpPr>
          <p:cNvPr id="6" name="Text 4"/>
          <p:cNvSpPr/>
          <p:nvPr/>
        </p:nvSpPr>
        <p:spPr>
          <a:xfrm>
            <a:off x="804672" y="176479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417320" y="1746504"/>
            <a:ext cx="4389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3245C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Routing &amp; shells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41248" y="2258568"/>
            <a:ext cx="48920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1C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Router v6. Two shells: partner Layout (portal) and AdminLayout (Nobus console). AuthGate guards every private route; ProtectedRoute enforces role.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172200" y="1508760"/>
            <a:ext cx="5440680" cy="1600200"/>
          </a:xfrm>
          <a:prstGeom prst="roundRect">
            <a:avLst>
              <a:gd name="adj" fmla="val 5143"/>
            </a:avLst>
          </a:prstGeom>
          <a:solidFill>
            <a:srgbClr val="FFFFFF"/>
          </a:solidFill>
          <a:ln w="12700">
            <a:solidFill>
              <a:srgbClr val="D9E2F2"/>
            </a:solidFill>
            <a:prstDash val="solid"/>
          </a:ln>
          <a:effectLst>
            <a:outerShdw sx="100000" sy="100000" kx="0" ky="0" algn="bl" rotWithShape="0" blurRad="88900" dist="25400" dir="5400000">
              <a:srgbClr val="9BB0D6">
                <a:alpha val="2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428232" y="1764792"/>
            <a:ext cx="457200" cy="457200"/>
          </a:xfrm>
          <a:prstGeom prst="ellipse">
            <a:avLst/>
          </a:prstGeom>
          <a:solidFill>
            <a:srgbClr val="1D54E8"/>
          </a:solidFill>
          <a:ln/>
        </p:spPr>
      </p:sp>
      <p:sp>
        <p:nvSpPr>
          <p:cNvPr id="11" name="Text 9"/>
          <p:cNvSpPr/>
          <p:nvPr/>
        </p:nvSpPr>
        <p:spPr>
          <a:xfrm>
            <a:off x="6428232" y="176479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7040880" y="1746504"/>
            <a:ext cx="4389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3245C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State via Context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464808" y="2258568"/>
            <a:ext cx="48920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1C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AuthProvider (session/JWT), ProgressProvider (lesson &amp; quiz progress), CountryProvider, I18nProvider — composed at the app root, no external store.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48640" y="3337560"/>
            <a:ext cx="5440680" cy="1600200"/>
          </a:xfrm>
          <a:prstGeom prst="roundRect">
            <a:avLst>
              <a:gd name="adj" fmla="val 5143"/>
            </a:avLst>
          </a:prstGeom>
          <a:solidFill>
            <a:srgbClr val="FFFFFF"/>
          </a:solidFill>
          <a:ln w="12700">
            <a:solidFill>
              <a:srgbClr val="D9E2F2"/>
            </a:solidFill>
            <a:prstDash val="solid"/>
          </a:ln>
          <a:effectLst>
            <a:outerShdw sx="100000" sy="100000" kx="0" ky="0" algn="bl" rotWithShape="0" blurRad="88900" dist="25400" dir="5400000">
              <a:srgbClr val="9BB0D6">
                <a:alpha val="2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04672" y="3593592"/>
            <a:ext cx="457200" cy="457200"/>
          </a:xfrm>
          <a:prstGeom prst="ellipse">
            <a:avLst/>
          </a:prstGeom>
          <a:solidFill>
            <a:srgbClr val="1D54E8"/>
          </a:solidFill>
          <a:ln/>
        </p:spPr>
      </p:sp>
      <p:sp>
        <p:nvSpPr>
          <p:cNvPr id="16" name="Text 14"/>
          <p:cNvSpPr/>
          <p:nvPr/>
        </p:nvSpPr>
        <p:spPr>
          <a:xfrm>
            <a:off x="804672" y="359359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1417320" y="3575304"/>
            <a:ext cx="4389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3245C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API client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841248" y="4087368"/>
            <a:ext cx="48920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1C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 lib/api.js wraps fetch: injects Bearer token, centralises 401 handling (auto sign-out), and exposes one typed method per endpoint.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172200" y="3337560"/>
            <a:ext cx="5440680" cy="1600200"/>
          </a:xfrm>
          <a:prstGeom prst="roundRect">
            <a:avLst>
              <a:gd name="adj" fmla="val 5143"/>
            </a:avLst>
          </a:prstGeom>
          <a:solidFill>
            <a:srgbClr val="FFFFFF"/>
          </a:solidFill>
          <a:ln w="12700">
            <a:solidFill>
              <a:srgbClr val="D9E2F2"/>
            </a:solidFill>
            <a:prstDash val="solid"/>
          </a:ln>
          <a:effectLst>
            <a:outerShdw sx="100000" sy="100000" kx="0" ky="0" algn="bl" rotWithShape="0" blurRad="88900" dist="25400" dir="5400000">
              <a:srgbClr val="9BB0D6">
                <a:alpha val="2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428232" y="3593592"/>
            <a:ext cx="457200" cy="457200"/>
          </a:xfrm>
          <a:prstGeom prst="ellipse">
            <a:avLst/>
          </a:prstGeom>
          <a:solidFill>
            <a:srgbClr val="1D54E8"/>
          </a:solidFill>
          <a:ln/>
        </p:spPr>
      </p:sp>
      <p:sp>
        <p:nvSpPr>
          <p:cNvPr id="21" name="Text 19"/>
          <p:cNvSpPr/>
          <p:nvPr/>
        </p:nvSpPr>
        <p:spPr>
          <a:xfrm>
            <a:off x="6428232" y="359359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7040880" y="3575304"/>
            <a:ext cx="4389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3245C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Content as data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6464808" y="4087368"/>
            <a:ext cx="48920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1C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Course, pricing and tier definitions ship as JS modules (presales / sales / technical tracks) rendered through a Markdown renderer.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548640" y="5257800"/>
            <a:ext cx="11091672" cy="1051560"/>
          </a:xfrm>
          <a:prstGeom prst="roundRect">
            <a:avLst>
              <a:gd name="adj" fmla="val 7826"/>
            </a:avLst>
          </a:prstGeom>
          <a:solidFill>
            <a:srgbClr val="13245C"/>
          </a:solidFill>
          <a:ln w="12700">
            <a:solidFill>
              <a:srgbClr val="13245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77240" y="541324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777240" y="5687568"/>
            <a:ext cx="10607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18.3  ·  Vite 5  ·  Tailwind CSS 3  ·  React Router 6  ·  lucide-react icons  ·  Inter typeface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D5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TIER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30352" y="603504"/>
            <a:ext cx="11155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245C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Backend — Express REST API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1C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Fifteen route modules mount under /api. Auth endpoints get a strict rate limiter; everything else shares a global limiter. All private routes pass through authenticate → role check → handler.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2148840"/>
            <a:ext cx="2084832" cy="1051560"/>
          </a:xfrm>
          <a:prstGeom prst="roundRect">
            <a:avLst>
              <a:gd name="adj" fmla="val 7826"/>
            </a:avLst>
          </a:prstGeom>
          <a:solidFill>
            <a:srgbClr val="FFFFFF"/>
          </a:solidFill>
          <a:ln w="12700">
            <a:solidFill>
              <a:srgbClr val="D9E2F2"/>
            </a:solidFill>
            <a:prstDash val="solid"/>
          </a:ln>
          <a:effectLst>
            <a:outerShdw sx="100000" sy="100000" kx="0" ky="0" algn="bl" rotWithShape="0" blurRad="88900" dist="25400" dir="5400000">
              <a:srgbClr val="9BB0D6">
                <a:alpha val="2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94944" y="2276856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D54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/auth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694944" y="2624328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5A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login, me, register-org, reset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2779776" y="2148840"/>
            <a:ext cx="2084832" cy="1051560"/>
          </a:xfrm>
          <a:prstGeom prst="roundRect">
            <a:avLst>
              <a:gd name="adj" fmla="val 7826"/>
            </a:avLst>
          </a:prstGeom>
          <a:solidFill>
            <a:srgbClr val="FFFFFF"/>
          </a:solidFill>
          <a:ln w="12700">
            <a:solidFill>
              <a:srgbClr val="D9E2F2"/>
            </a:solidFill>
            <a:prstDash val="solid"/>
          </a:ln>
          <a:effectLst>
            <a:outerShdw sx="100000" sy="100000" kx="0" ky="0" algn="bl" rotWithShape="0" blurRad="88900" dist="25400" dir="5400000">
              <a:srgbClr val="9BB0D6">
                <a:alpha val="2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926080" y="2276856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D54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/organizations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2926080" y="2624328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5A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directory, approve, reject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010912" y="2148840"/>
            <a:ext cx="2084832" cy="1051560"/>
          </a:xfrm>
          <a:prstGeom prst="roundRect">
            <a:avLst>
              <a:gd name="adj" fmla="val 7826"/>
            </a:avLst>
          </a:prstGeom>
          <a:solidFill>
            <a:srgbClr val="FFFFFF"/>
          </a:solidFill>
          <a:ln w="12700">
            <a:solidFill>
              <a:srgbClr val="D9E2F2"/>
            </a:solidFill>
            <a:prstDash val="solid"/>
          </a:ln>
          <a:effectLst>
            <a:outerShdw sx="100000" sy="100000" kx="0" ky="0" algn="bl" rotWithShape="0" blurRad="88900" dist="25400" dir="5400000">
              <a:srgbClr val="9BB0D6">
                <a:alpha val="2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57216" y="2276856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D54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/users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5157216" y="2624328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5A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invite, status, profile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7242048" y="2148840"/>
            <a:ext cx="2084832" cy="1051560"/>
          </a:xfrm>
          <a:prstGeom prst="roundRect">
            <a:avLst>
              <a:gd name="adj" fmla="val 7826"/>
            </a:avLst>
          </a:prstGeom>
          <a:solidFill>
            <a:srgbClr val="FFFFFF"/>
          </a:solidFill>
          <a:ln w="12700">
            <a:solidFill>
              <a:srgbClr val="D9E2F2"/>
            </a:solidFill>
            <a:prstDash val="solid"/>
          </a:ln>
          <a:effectLst>
            <a:outerShdw sx="100000" sy="100000" kx="0" ky="0" algn="bl" rotWithShape="0" blurRad="88900" dist="25400" dir="5400000">
              <a:srgbClr val="9BB0D6">
                <a:alpha val="2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7388352" y="2276856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D54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/progress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7388352" y="2624328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5A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lessons, quizzes, recs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9473184" y="2148840"/>
            <a:ext cx="2084832" cy="1051560"/>
          </a:xfrm>
          <a:prstGeom prst="roundRect">
            <a:avLst>
              <a:gd name="adj" fmla="val 7826"/>
            </a:avLst>
          </a:prstGeom>
          <a:solidFill>
            <a:srgbClr val="FFFFFF"/>
          </a:solidFill>
          <a:ln w="12700">
            <a:solidFill>
              <a:srgbClr val="D9E2F2"/>
            </a:solidFill>
            <a:prstDash val="solid"/>
          </a:ln>
          <a:effectLst>
            <a:outerShdw sx="100000" sy="100000" kx="0" ky="0" algn="bl" rotWithShape="0" blurRad="88900" dist="25400" dir="5400000">
              <a:srgbClr val="9BB0D6">
                <a:alpha val="2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9619488" y="2276856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D54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/certificates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9619488" y="2624328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5A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 issuance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548640" y="3383280"/>
            <a:ext cx="2084832" cy="1051560"/>
          </a:xfrm>
          <a:prstGeom prst="roundRect">
            <a:avLst>
              <a:gd name="adj" fmla="val 7826"/>
            </a:avLst>
          </a:prstGeom>
          <a:solidFill>
            <a:srgbClr val="FFFFFF"/>
          </a:solidFill>
          <a:ln w="12700">
            <a:solidFill>
              <a:srgbClr val="D9E2F2"/>
            </a:solidFill>
            <a:prstDash val="solid"/>
          </a:ln>
          <a:effectLst>
            <a:outerShdw sx="100000" sy="100000" kx="0" ky="0" algn="bl" rotWithShape="0" blurRad="88900" dist="25400" dir="5400000">
              <a:srgbClr val="9BB0D6">
                <a:alpha val="28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694944" y="3511296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D54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/notifications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694944" y="3858768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5A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in-app centre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2779776" y="3383280"/>
            <a:ext cx="2084832" cy="1051560"/>
          </a:xfrm>
          <a:prstGeom prst="roundRect">
            <a:avLst>
              <a:gd name="adj" fmla="val 7826"/>
            </a:avLst>
          </a:prstGeom>
          <a:solidFill>
            <a:srgbClr val="FFFFFF"/>
          </a:solidFill>
          <a:ln w="12700">
            <a:solidFill>
              <a:srgbClr val="D9E2F2"/>
            </a:solidFill>
            <a:prstDash val="solid"/>
          </a:ln>
          <a:effectLst>
            <a:outerShdw sx="100000" sy="100000" kx="0" ky="0" algn="bl" rotWithShape="0" blurRad="88900" dist="25400" dir="5400000">
              <a:srgbClr val="9BB0D6">
                <a:alpha val="28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2926080" y="3511296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D54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/discussions</a:t>
            </a:r>
            <a:endParaRPr lang="en-US" sz="1350" dirty="0"/>
          </a:p>
        </p:txBody>
      </p:sp>
      <p:sp>
        <p:nvSpPr>
          <p:cNvPr id="25" name="Text 23"/>
          <p:cNvSpPr/>
          <p:nvPr/>
        </p:nvSpPr>
        <p:spPr>
          <a:xfrm>
            <a:off x="2926080" y="3858768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5A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forum + replies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5010912" y="3383280"/>
            <a:ext cx="2084832" cy="1051560"/>
          </a:xfrm>
          <a:prstGeom prst="roundRect">
            <a:avLst>
              <a:gd name="adj" fmla="val 7826"/>
            </a:avLst>
          </a:prstGeom>
          <a:solidFill>
            <a:srgbClr val="FFFFFF"/>
          </a:solidFill>
          <a:ln w="12700">
            <a:solidFill>
              <a:srgbClr val="D9E2F2"/>
            </a:solidFill>
            <a:prstDash val="solid"/>
          </a:ln>
          <a:effectLst>
            <a:outerShdw sx="100000" sy="100000" kx="0" ky="0" algn="bl" rotWithShape="0" blurRad="88900" dist="25400" dir="5400000">
              <a:srgbClr val="9BB0D6">
                <a:alpha val="2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5157216" y="3511296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D54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/gamification</a:t>
            </a:r>
            <a:endParaRPr lang="en-US" sz="1350" dirty="0"/>
          </a:p>
        </p:txBody>
      </p:sp>
      <p:sp>
        <p:nvSpPr>
          <p:cNvPr id="28" name="Text 26"/>
          <p:cNvSpPr/>
          <p:nvPr/>
        </p:nvSpPr>
        <p:spPr>
          <a:xfrm>
            <a:off x="5157216" y="3858768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5A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points, leaderboard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7242048" y="3383280"/>
            <a:ext cx="2084832" cy="1051560"/>
          </a:xfrm>
          <a:prstGeom prst="roundRect">
            <a:avLst>
              <a:gd name="adj" fmla="val 7826"/>
            </a:avLst>
          </a:prstGeom>
          <a:solidFill>
            <a:srgbClr val="FFFFFF"/>
          </a:solidFill>
          <a:ln w="12700">
            <a:solidFill>
              <a:srgbClr val="D9E2F2"/>
            </a:solidFill>
            <a:prstDash val="solid"/>
          </a:ln>
          <a:effectLst>
            <a:outerShdw sx="100000" sy="100000" kx="0" ky="0" algn="bl" rotWithShape="0" blurRad="88900" dist="25400" dir="5400000">
              <a:srgbClr val="9BB0D6">
                <a:alpha val="28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7388352" y="3511296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D54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/deals</a:t>
            </a:r>
            <a:endParaRPr lang="en-US" sz="1350" dirty="0"/>
          </a:p>
        </p:txBody>
      </p:sp>
      <p:sp>
        <p:nvSpPr>
          <p:cNvPr id="31" name="Text 29"/>
          <p:cNvSpPr/>
          <p:nvPr/>
        </p:nvSpPr>
        <p:spPr>
          <a:xfrm>
            <a:off x="7388352" y="3858768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5A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registration + protection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9473184" y="3383280"/>
            <a:ext cx="2084832" cy="1051560"/>
          </a:xfrm>
          <a:prstGeom prst="roundRect">
            <a:avLst>
              <a:gd name="adj" fmla="val 7826"/>
            </a:avLst>
          </a:prstGeom>
          <a:solidFill>
            <a:srgbClr val="FFFFFF"/>
          </a:solidFill>
          <a:ln w="12700">
            <a:solidFill>
              <a:srgbClr val="D9E2F2"/>
            </a:solidFill>
            <a:prstDash val="solid"/>
          </a:ln>
          <a:effectLst>
            <a:outerShdw sx="100000" sy="100000" kx="0" ky="0" algn="bl" rotWithShape="0" blurRad="88900" dist="25400" dir="5400000">
              <a:srgbClr val="9BB0D6">
                <a:alpha val="28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9619488" y="3511296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D54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/pipeline</a:t>
            </a:r>
            <a:endParaRPr lang="en-US" sz="1350" dirty="0"/>
          </a:p>
        </p:txBody>
      </p:sp>
      <p:sp>
        <p:nvSpPr>
          <p:cNvPr id="34" name="Text 32"/>
          <p:cNvSpPr/>
          <p:nvPr/>
        </p:nvSpPr>
        <p:spPr>
          <a:xfrm>
            <a:off x="9619488" y="3858768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5A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leads, forecast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548640" y="4617720"/>
            <a:ext cx="2084832" cy="1051560"/>
          </a:xfrm>
          <a:prstGeom prst="roundRect">
            <a:avLst>
              <a:gd name="adj" fmla="val 7826"/>
            </a:avLst>
          </a:prstGeom>
          <a:solidFill>
            <a:srgbClr val="FFFFFF"/>
          </a:solidFill>
          <a:ln w="12700">
            <a:solidFill>
              <a:srgbClr val="D9E2F2"/>
            </a:solidFill>
            <a:prstDash val="solid"/>
          </a:ln>
          <a:effectLst>
            <a:outerShdw sx="100000" sy="100000" kx="0" ky="0" algn="bl" rotWithShape="0" blurRad="88900" dist="25400" dir="5400000">
              <a:srgbClr val="9BB0D6">
                <a:alpha val="28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694944" y="4745736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D54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/quotes</a:t>
            </a:r>
            <a:endParaRPr lang="en-US" sz="1350" dirty="0"/>
          </a:p>
        </p:txBody>
      </p:sp>
      <p:sp>
        <p:nvSpPr>
          <p:cNvPr id="37" name="Text 35"/>
          <p:cNvSpPr/>
          <p:nvPr/>
        </p:nvSpPr>
        <p:spPr>
          <a:xfrm>
            <a:off x="694944" y="5093208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5A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builder + export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2779776" y="4617720"/>
            <a:ext cx="2084832" cy="1051560"/>
          </a:xfrm>
          <a:prstGeom prst="roundRect">
            <a:avLst>
              <a:gd name="adj" fmla="val 7826"/>
            </a:avLst>
          </a:prstGeom>
          <a:solidFill>
            <a:srgbClr val="FFFFFF"/>
          </a:solidFill>
          <a:ln w="12700">
            <a:solidFill>
              <a:srgbClr val="D9E2F2"/>
            </a:solidFill>
            <a:prstDash val="solid"/>
          </a:ln>
          <a:effectLst>
            <a:outerShdw sx="100000" sy="100000" kx="0" ky="0" algn="bl" rotWithShape="0" blurRad="88900" dist="25400" dir="5400000">
              <a:srgbClr val="9BB0D6">
                <a:alpha val="28000"/>
              </a:srgbClr>
            </a:outerShdw>
          </a:effectLst>
        </p:spPr>
      </p:sp>
      <p:sp>
        <p:nvSpPr>
          <p:cNvPr id="39" name="Text 37"/>
          <p:cNvSpPr/>
          <p:nvPr/>
        </p:nvSpPr>
        <p:spPr>
          <a:xfrm>
            <a:off x="2926080" y="4745736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D54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/labs</a:t>
            </a:r>
            <a:endParaRPr lang="en-US" sz="1350" dirty="0"/>
          </a:p>
        </p:txBody>
      </p:sp>
      <p:sp>
        <p:nvSpPr>
          <p:cNvPr id="40" name="Text 38"/>
          <p:cNvSpPr/>
          <p:nvPr/>
        </p:nvSpPr>
        <p:spPr>
          <a:xfrm>
            <a:off x="2926080" y="5093208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5A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demo-lab bookings</a:t>
            </a:r>
            <a:endParaRPr lang="en-US" sz="1050" dirty="0"/>
          </a:p>
        </p:txBody>
      </p:sp>
      <p:sp>
        <p:nvSpPr>
          <p:cNvPr id="41" name="Shape 39"/>
          <p:cNvSpPr/>
          <p:nvPr/>
        </p:nvSpPr>
        <p:spPr>
          <a:xfrm>
            <a:off x="5010912" y="4617720"/>
            <a:ext cx="2084832" cy="1051560"/>
          </a:xfrm>
          <a:prstGeom prst="roundRect">
            <a:avLst>
              <a:gd name="adj" fmla="val 7826"/>
            </a:avLst>
          </a:prstGeom>
          <a:solidFill>
            <a:srgbClr val="FFFFFF"/>
          </a:solidFill>
          <a:ln w="12700">
            <a:solidFill>
              <a:srgbClr val="D9E2F2"/>
            </a:solidFill>
            <a:prstDash val="solid"/>
          </a:ln>
          <a:effectLst>
            <a:outerShdw sx="100000" sy="100000" kx="0" ky="0" algn="bl" rotWithShape="0" blurRad="88900" dist="25400" dir="5400000">
              <a:srgbClr val="9BB0D6">
                <a:alpha val="28000"/>
              </a:srgbClr>
            </a:outerShdw>
          </a:effectLst>
        </p:spPr>
      </p:sp>
      <p:sp>
        <p:nvSpPr>
          <p:cNvPr id="42" name="Text 40"/>
          <p:cNvSpPr/>
          <p:nvPr/>
        </p:nvSpPr>
        <p:spPr>
          <a:xfrm>
            <a:off x="5157216" y="4745736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D54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/resources</a:t>
            </a:r>
            <a:endParaRPr lang="en-US" sz="1350" dirty="0"/>
          </a:p>
        </p:txBody>
      </p:sp>
      <p:sp>
        <p:nvSpPr>
          <p:cNvPr id="43" name="Text 41"/>
          <p:cNvSpPr/>
          <p:nvPr/>
        </p:nvSpPr>
        <p:spPr>
          <a:xfrm>
            <a:off x="5157216" y="5093208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5A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marketing + content hub</a:t>
            </a:r>
            <a:endParaRPr lang="en-US" sz="1050" dirty="0"/>
          </a:p>
        </p:txBody>
      </p:sp>
      <p:sp>
        <p:nvSpPr>
          <p:cNvPr id="44" name="Shape 42"/>
          <p:cNvSpPr/>
          <p:nvPr/>
        </p:nvSpPr>
        <p:spPr>
          <a:xfrm>
            <a:off x="7242048" y="4617720"/>
            <a:ext cx="2084832" cy="1051560"/>
          </a:xfrm>
          <a:prstGeom prst="roundRect">
            <a:avLst>
              <a:gd name="adj" fmla="val 7826"/>
            </a:avLst>
          </a:prstGeom>
          <a:solidFill>
            <a:srgbClr val="FFFFFF"/>
          </a:solidFill>
          <a:ln w="12700">
            <a:solidFill>
              <a:srgbClr val="D9E2F2"/>
            </a:solidFill>
            <a:prstDash val="solid"/>
          </a:ln>
          <a:effectLst>
            <a:outerShdw sx="100000" sy="100000" kx="0" ky="0" algn="bl" rotWithShape="0" blurRad="88900" dist="25400" dir="5400000">
              <a:srgbClr val="9BB0D6">
                <a:alpha val="28000"/>
              </a:srgbClr>
            </a:outerShdw>
          </a:effectLst>
        </p:spPr>
      </p:sp>
      <p:sp>
        <p:nvSpPr>
          <p:cNvPr id="45" name="Text 43"/>
          <p:cNvSpPr/>
          <p:nvPr/>
        </p:nvSpPr>
        <p:spPr>
          <a:xfrm>
            <a:off x="7388352" y="4745736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D54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/admin</a:t>
            </a:r>
            <a:endParaRPr lang="en-US" sz="1350" dirty="0"/>
          </a:p>
        </p:txBody>
      </p:sp>
      <p:sp>
        <p:nvSpPr>
          <p:cNvPr id="46" name="Text 44"/>
          <p:cNvSpPr/>
          <p:nvPr/>
        </p:nvSpPr>
        <p:spPr>
          <a:xfrm>
            <a:off x="7388352" y="5093208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5A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console, reports, SSO</a:t>
            </a:r>
            <a:endParaRPr lang="en-US" sz="1050" dirty="0"/>
          </a:p>
        </p:txBody>
      </p:sp>
      <p:sp>
        <p:nvSpPr>
          <p:cNvPr id="47" name="Shape 45"/>
          <p:cNvSpPr/>
          <p:nvPr/>
        </p:nvSpPr>
        <p:spPr>
          <a:xfrm>
            <a:off x="9473184" y="4617720"/>
            <a:ext cx="2084832" cy="1051560"/>
          </a:xfrm>
          <a:prstGeom prst="roundRect">
            <a:avLst>
              <a:gd name="adj" fmla="val 7826"/>
            </a:avLst>
          </a:prstGeom>
          <a:solidFill>
            <a:srgbClr val="FFFFFF"/>
          </a:solidFill>
          <a:ln w="12700">
            <a:solidFill>
              <a:srgbClr val="D9E2F2"/>
            </a:solidFill>
            <a:prstDash val="solid"/>
          </a:ln>
          <a:effectLst>
            <a:outerShdw sx="100000" sy="100000" kx="0" ky="0" algn="bl" rotWithShape="0" blurRad="88900" dist="25400" dir="5400000">
              <a:srgbClr val="9BB0D6">
                <a:alpha val="28000"/>
              </a:srgbClr>
            </a:outerShdw>
          </a:effectLst>
        </p:spPr>
      </p:sp>
      <p:sp>
        <p:nvSpPr>
          <p:cNvPr id="48" name="Text 46"/>
          <p:cNvSpPr/>
          <p:nvPr/>
        </p:nvSpPr>
        <p:spPr>
          <a:xfrm>
            <a:off x="9619488" y="4745736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D54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/public</a:t>
            </a:r>
            <a:endParaRPr lang="en-US" sz="1350" dirty="0"/>
          </a:p>
        </p:txBody>
      </p:sp>
      <p:sp>
        <p:nvSpPr>
          <p:cNvPr id="49" name="Text 47"/>
          <p:cNvSpPr/>
          <p:nvPr/>
        </p:nvSpPr>
        <p:spPr>
          <a:xfrm>
            <a:off x="9619488" y="5093208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5A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keys + docs</a:t>
            </a:r>
            <a:endParaRPr lang="en-US" sz="1050" dirty="0"/>
          </a:p>
        </p:txBody>
      </p:sp>
      <p:sp>
        <p:nvSpPr>
          <p:cNvPr id="50" name="Text 48"/>
          <p:cNvSpPr/>
          <p:nvPr/>
        </p:nvSpPr>
        <p:spPr>
          <a:xfrm>
            <a:off x="548640" y="598932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A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 check at /api/health · unknown /api/* → 404 · global error handler logs detail server-side, returns generic message (no info disclosure).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D5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TIER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30352" y="603504"/>
            <a:ext cx="11155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245C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Data Model — Core Entities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3593592" cy="2240280"/>
          </a:xfrm>
          <a:prstGeom prst="roundRect">
            <a:avLst>
              <a:gd name="adj" fmla="val 3673"/>
            </a:avLst>
          </a:prstGeom>
          <a:solidFill>
            <a:srgbClr val="FFFFFF"/>
          </a:solidFill>
          <a:ln w="12700">
            <a:solidFill>
              <a:srgbClr val="D9E2F2"/>
            </a:solidFill>
            <a:prstDash val="solid"/>
          </a:ln>
          <a:effectLst>
            <a:outerShdw sx="100000" sy="100000" kx="0" ky="0" algn="bl" rotWithShape="0" blurRad="88900" dist="25400" dir="5400000">
              <a:srgbClr val="9BB0D6">
                <a:alpha val="2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77240" y="1737360"/>
            <a:ext cx="292608" cy="292608"/>
          </a:xfrm>
          <a:prstGeom prst="ellipse">
            <a:avLst/>
          </a:prstGeom>
          <a:solidFill>
            <a:srgbClr val="1D54E8"/>
          </a:solidFill>
          <a:ln/>
        </p:spPr>
      </p:sp>
      <p:sp>
        <p:nvSpPr>
          <p:cNvPr id="6" name="Text 4"/>
          <p:cNvSpPr/>
          <p:nvPr/>
        </p:nvSpPr>
        <p:spPr>
          <a:xfrm>
            <a:off x="1170432" y="1709928"/>
            <a:ext cx="28620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3245C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Identity &amp; tenancy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68680" y="2167128"/>
            <a:ext cx="304495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C2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organizations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868680" y="2372868"/>
            <a:ext cx="304495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C2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pending_organizations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868680" y="2578608"/>
            <a:ext cx="304495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C2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users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868680" y="2784348"/>
            <a:ext cx="304495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C2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user_profiles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868680" y="2990088"/>
            <a:ext cx="304495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C2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invitations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868680" y="3195828"/>
            <a:ext cx="304495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C2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sso_configs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325112" y="1508760"/>
            <a:ext cx="3593592" cy="2240280"/>
          </a:xfrm>
          <a:prstGeom prst="roundRect">
            <a:avLst>
              <a:gd name="adj" fmla="val 3673"/>
            </a:avLst>
          </a:prstGeom>
          <a:solidFill>
            <a:srgbClr val="FFFFFF"/>
          </a:solidFill>
          <a:ln w="12700">
            <a:solidFill>
              <a:srgbClr val="D9E2F2"/>
            </a:solidFill>
            <a:prstDash val="solid"/>
          </a:ln>
          <a:effectLst>
            <a:outerShdw sx="100000" sy="100000" kx="0" ky="0" algn="bl" rotWithShape="0" blurRad="88900" dist="25400" dir="5400000">
              <a:srgbClr val="9BB0D6">
                <a:alpha val="2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553712" y="1737360"/>
            <a:ext cx="292608" cy="292608"/>
          </a:xfrm>
          <a:prstGeom prst="ellipse">
            <a:avLst/>
          </a:prstGeom>
          <a:solidFill>
            <a:srgbClr val="13245C"/>
          </a:solidFill>
          <a:ln/>
        </p:spPr>
      </p:sp>
      <p:sp>
        <p:nvSpPr>
          <p:cNvPr id="15" name="Text 13"/>
          <p:cNvSpPr/>
          <p:nvPr/>
        </p:nvSpPr>
        <p:spPr>
          <a:xfrm>
            <a:off x="4946904" y="1709928"/>
            <a:ext cx="28620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3245C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Learning &amp; progress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4645152" y="2167128"/>
            <a:ext cx="304495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C2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lesson_progress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4645152" y="2372868"/>
            <a:ext cx="304495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C2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quiz_results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4645152" y="2578608"/>
            <a:ext cx="304495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C2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quiz_policies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4645152" y="2784348"/>
            <a:ext cx="304495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C2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completed_paths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4645152" y="2990088"/>
            <a:ext cx="304495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C2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badges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4645152" y="3195828"/>
            <a:ext cx="304495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C2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content_versions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8101584" y="1508760"/>
            <a:ext cx="3593592" cy="2240280"/>
          </a:xfrm>
          <a:prstGeom prst="roundRect">
            <a:avLst>
              <a:gd name="adj" fmla="val 3673"/>
            </a:avLst>
          </a:prstGeom>
          <a:solidFill>
            <a:srgbClr val="FFFFFF"/>
          </a:solidFill>
          <a:ln w="12700">
            <a:solidFill>
              <a:srgbClr val="D9E2F2"/>
            </a:solidFill>
            <a:prstDash val="solid"/>
          </a:ln>
          <a:effectLst>
            <a:outerShdw sx="100000" sy="100000" kx="0" ky="0" algn="bl" rotWithShape="0" blurRad="88900" dist="25400" dir="5400000">
              <a:srgbClr val="9BB0D6">
                <a:alpha val="2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8330184" y="1737360"/>
            <a:ext cx="292608" cy="292608"/>
          </a:xfrm>
          <a:prstGeom prst="ellipse">
            <a:avLst/>
          </a:prstGeom>
          <a:solidFill>
            <a:srgbClr val="00C9A7"/>
          </a:solidFill>
          <a:ln/>
        </p:spPr>
      </p:sp>
      <p:sp>
        <p:nvSpPr>
          <p:cNvPr id="24" name="Text 22"/>
          <p:cNvSpPr/>
          <p:nvPr/>
        </p:nvSpPr>
        <p:spPr>
          <a:xfrm>
            <a:off x="8723376" y="1709928"/>
            <a:ext cx="28620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3245C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Engagement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8421624" y="2167128"/>
            <a:ext cx="304495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C2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discussions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8421624" y="2372868"/>
            <a:ext cx="304495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C2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discussion_replies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8421624" y="2578608"/>
            <a:ext cx="304495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C2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notifications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8421624" y="2784348"/>
            <a:ext cx="304495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C2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user_points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548640" y="3931920"/>
            <a:ext cx="3593592" cy="2240280"/>
          </a:xfrm>
          <a:prstGeom prst="roundRect">
            <a:avLst>
              <a:gd name="adj" fmla="val 3673"/>
            </a:avLst>
          </a:prstGeom>
          <a:solidFill>
            <a:srgbClr val="FFFFFF"/>
          </a:solidFill>
          <a:ln w="12700">
            <a:solidFill>
              <a:srgbClr val="D9E2F2"/>
            </a:solidFill>
            <a:prstDash val="solid"/>
          </a:ln>
          <a:effectLst>
            <a:outerShdw sx="100000" sy="100000" kx="0" ky="0" algn="bl" rotWithShape="0" blurRad="88900" dist="25400" dir="5400000">
              <a:srgbClr val="9BB0D6">
                <a:alpha val="28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777240" y="4160520"/>
            <a:ext cx="292608" cy="292608"/>
          </a:xfrm>
          <a:prstGeom prst="ellipse">
            <a:avLst/>
          </a:prstGeom>
          <a:solidFill>
            <a:srgbClr val="1D54E8"/>
          </a:solidFill>
          <a:ln/>
        </p:spPr>
      </p:sp>
      <p:sp>
        <p:nvSpPr>
          <p:cNvPr id="31" name="Text 29"/>
          <p:cNvSpPr/>
          <p:nvPr/>
        </p:nvSpPr>
        <p:spPr>
          <a:xfrm>
            <a:off x="1170432" y="4133088"/>
            <a:ext cx="28620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3245C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Partner &amp; sales (PRM)</a:t>
            </a:r>
            <a:endParaRPr lang="en-US" sz="1500" dirty="0"/>
          </a:p>
        </p:txBody>
      </p:sp>
      <p:sp>
        <p:nvSpPr>
          <p:cNvPr id="32" name="Text 30"/>
          <p:cNvSpPr/>
          <p:nvPr/>
        </p:nvSpPr>
        <p:spPr>
          <a:xfrm>
            <a:off x="868680" y="4590288"/>
            <a:ext cx="304495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C2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deals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868680" y="4796028"/>
            <a:ext cx="304495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C2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leads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868680" y="5001768"/>
            <a:ext cx="304495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C2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lead_activities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868680" y="5207508"/>
            <a:ext cx="304495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C2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quotes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868680" y="5413248"/>
            <a:ext cx="304495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C2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marketing_assets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868680" y="5618988"/>
            <a:ext cx="304495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C2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content_items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868680" y="5824728"/>
            <a:ext cx="304495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C2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demo_labs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868680" y="6030468"/>
            <a:ext cx="304495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C2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lab_bookings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4325112" y="3931920"/>
            <a:ext cx="3593592" cy="2240280"/>
          </a:xfrm>
          <a:prstGeom prst="roundRect">
            <a:avLst>
              <a:gd name="adj" fmla="val 3673"/>
            </a:avLst>
          </a:prstGeom>
          <a:solidFill>
            <a:srgbClr val="FFFFFF"/>
          </a:solidFill>
          <a:ln w="12700">
            <a:solidFill>
              <a:srgbClr val="D9E2F2"/>
            </a:solidFill>
            <a:prstDash val="solid"/>
          </a:ln>
          <a:effectLst>
            <a:outerShdw sx="100000" sy="100000" kx="0" ky="0" algn="bl" rotWithShape="0" blurRad="88900" dist="25400" dir="5400000">
              <a:srgbClr val="9BB0D6">
                <a:alpha val="28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4553712" y="4160520"/>
            <a:ext cx="292608" cy="292608"/>
          </a:xfrm>
          <a:prstGeom prst="ellipse">
            <a:avLst/>
          </a:prstGeom>
          <a:solidFill>
            <a:srgbClr val="13245C"/>
          </a:solidFill>
          <a:ln/>
        </p:spPr>
      </p:sp>
      <p:sp>
        <p:nvSpPr>
          <p:cNvPr id="42" name="Text 40"/>
          <p:cNvSpPr/>
          <p:nvPr/>
        </p:nvSpPr>
        <p:spPr>
          <a:xfrm>
            <a:off x="4946904" y="4133088"/>
            <a:ext cx="28620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3245C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Security &amp; audit</a:t>
            </a:r>
            <a:endParaRPr lang="en-US" sz="1500" dirty="0"/>
          </a:p>
        </p:txBody>
      </p:sp>
      <p:sp>
        <p:nvSpPr>
          <p:cNvPr id="43" name="Text 41"/>
          <p:cNvSpPr/>
          <p:nvPr/>
        </p:nvSpPr>
        <p:spPr>
          <a:xfrm>
            <a:off x="4645152" y="4590288"/>
            <a:ext cx="304495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C2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password_resets</a:t>
            </a:r>
            <a:endParaRPr lang="en-US" sz="1050" dirty="0"/>
          </a:p>
        </p:txBody>
      </p:sp>
      <p:sp>
        <p:nvSpPr>
          <p:cNvPr id="44" name="Text 42"/>
          <p:cNvSpPr/>
          <p:nvPr/>
        </p:nvSpPr>
        <p:spPr>
          <a:xfrm>
            <a:off x="4645152" y="4796028"/>
            <a:ext cx="304495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C2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login_attempts</a:t>
            </a:r>
            <a:endParaRPr lang="en-US" sz="1050" dirty="0"/>
          </a:p>
        </p:txBody>
      </p:sp>
      <p:sp>
        <p:nvSpPr>
          <p:cNvPr id="45" name="Text 43"/>
          <p:cNvSpPr/>
          <p:nvPr/>
        </p:nvSpPr>
        <p:spPr>
          <a:xfrm>
            <a:off x="4645152" y="5001768"/>
            <a:ext cx="304495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C2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audit_log</a:t>
            </a:r>
            <a:endParaRPr lang="en-US" sz="1050" dirty="0"/>
          </a:p>
        </p:txBody>
      </p:sp>
      <p:sp>
        <p:nvSpPr>
          <p:cNvPr id="46" name="Text 44"/>
          <p:cNvSpPr/>
          <p:nvPr/>
        </p:nvSpPr>
        <p:spPr>
          <a:xfrm>
            <a:off x="4645152" y="5207508"/>
            <a:ext cx="304495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C2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api_keys</a:t>
            </a:r>
            <a:endParaRPr lang="en-US" sz="1050" dirty="0"/>
          </a:p>
        </p:txBody>
      </p:sp>
      <p:sp>
        <p:nvSpPr>
          <p:cNvPr id="47" name="Shape 45"/>
          <p:cNvSpPr/>
          <p:nvPr/>
        </p:nvSpPr>
        <p:spPr>
          <a:xfrm>
            <a:off x="8101584" y="3931920"/>
            <a:ext cx="3593592" cy="2240280"/>
          </a:xfrm>
          <a:prstGeom prst="roundRect">
            <a:avLst>
              <a:gd name="adj" fmla="val 3673"/>
            </a:avLst>
          </a:prstGeom>
          <a:solidFill>
            <a:srgbClr val="EEF4FF"/>
          </a:solidFill>
          <a:ln w="12700">
            <a:solidFill>
              <a:srgbClr val="DCE8FF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8330184" y="4133088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D54E8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Design notes</a:t>
            </a:r>
            <a:endParaRPr lang="en-US" sz="1500" dirty="0"/>
          </a:p>
        </p:txBody>
      </p:sp>
      <p:sp>
        <p:nvSpPr>
          <p:cNvPr id="49" name="Text 47"/>
          <p:cNvSpPr/>
          <p:nvPr/>
        </p:nvSpPr>
        <p:spPr>
          <a:xfrm>
            <a:off x="8375904" y="4553712"/>
            <a:ext cx="320040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02000"/>
              </a:lnSpc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C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Foreign keys enforced</a:t>
            </a:r>
            <a:endParaRPr lang="en-US" sz="1100" dirty="0"/>
          </a:p>
          <a:p>
            <a:pPr marL="177800" indent="-177800">
              <a:lnSpc>
                <a:spcPct val="102000"/>
              </a:lnSpc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C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Additive migrations via guarded ALTER TABLE</a:t>
            </a:r>
            <a:endParaRPr lang="en-US" sz="1100" dirty="0"/>
          </a:p>
          <a:p>
            <a:pPr marL="177800" indent="-177800">
              <a:lnSpc>
                <a:spcPct val="102000"/>
              </a:lnSpc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C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token_version column revokes JWTs on password change</a:t>
            </a:r>
            <a:endParaRPr lang="en-US" sz="1100" dirty="0"/>
          </a:p>
          <a:p>
            <a:pPr marL="177800" indent="-177800">
              <a:lnSpc>
                <a:spcPct val="102000"/>
              </a:lnSpc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C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Indexed api_keys hash + login_attempts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324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30352" y="713232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Authentication &amp; Security Model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5440680" cy="1965960"/>
          </a:xfrm>
          <a:prstGeom prst="roundRect">
            <a:avLst>
              <a:gd name="adj" fmla="val 4186"/>
            </a:avLst>
          </a:prstGeom>
          <a:solidFill>
            <a:srgbClr val="1B336E"/>
          </a:solidFill>
          <a:ln w="12700">
            <a:solidFill>
              <a:srgbClr val="2E6B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68680" y="1755648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0C9A7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Identity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896112" y="2304288"/>
            <a:ext cx="100584" cy="100584"/>
          </a:xfrm>
          <a:prstGeom prst="ellipse">
            <a:avLst/>
          </a:prstGeom>
          <a:solidFill>
            <a:srgbClr val="2E6BFF"/>
          </a:solidFill>
          <a:ln/>
        </p:spPr>
      </p:sp>
      <p:sp>
        <p:nvSpPr>
          <p:cNvPr id="7" name="Text 5"/>
          <p:cNvSpPr/>
          <p:nvPr/>
        </p:nvSpPr>
        <p:spPr>
          <a:xfrm>
            <a:off x="1115568" y="2194560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6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(7-day) with per-user token_version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896112" y="2688336"/>
            <a:ext cx="100584" cy="100584"/>
          </a:xfrm>
          <a:prstGeom prst="ellipse">
            <a:avLst/>
          </a:prstGeom>
          <a:solidFill>
            <a:srgbClr val="2E6BFF"/>
          </a:solidFill>
          <a:ln/>
        </p:spPr>
      </p:sp>
      <p:sp>
        <p:nvSpPr>
          <p:cNvPr id="9" name="Text 7"/>
          <p:cNvSpPr/>
          <p:nvPr/>
        </p:nvSpPr>
        <p:spPr>
          <a:xfrm>
            <a:off x="1115568" y="2578608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6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bcrypt password hashing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896112" y="3072384"/>
            <a:ext cx="100584" cy="100584"/>
          </a:xfrm>
          <a:prstGeom prst="ellipse">
            <a:avLst/>
          </a:prstGeom>
          <a:solidFill>
            <a:srgbClr val="2E6BFF"/>
          </a:solidFill>
          <a:ln/>
        </p:spPr>
      </p:sp>
      <p:sp>
        <p:nvSpPr>
          <p:cNvPr id="11" name="Text 9"/>
          <p:cNvSpPr/>
          <p:nvPr/>
        </p:nvSpPr>
        <p:spPr>
          <a:xfrm>
            <a:off x="1115568" y="2962656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6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hardcoded secret — random if unset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172200" y="1554480"/>
            <a:ext cx="5440680" cy="1965960"/>
          </a:xfrm>
          <a:prstGeom prst="roundRect">
            <a:avLst>
              <a:gd name="adj" fmla="val 4186"/>
            </a:avLst>
          </a:prstGeom>
          <a:solidFill>
            <a:srgbClr val="1B336E"/>
          </a:solidFill>
          <a:ln w="12700">
            <a:solidFill>
              <a:srgbClr val="2E6B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92240" y="1755648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0C9A7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Access control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6519672" y="2304288"/>
            <a:ext cx="100584" cy="100584"/>
          </a:xfrm>
          <a:prstGeom prst="ellipse">
            <a:avLst/>
          </a:prstGeom>
          <a:solidFill>
            <a:srgbClr val="2E6BFF"/>
          </a:solidFill>
          <a:ln/>
        </p:spPr>
      </p:sp>
      <p:sp>
        <p:nvSpPr>
          <p:cNvPr id="15" name="Text 13"/>
          <p:cNvSpPr/>
          <p:nvPr/>
        </p:nvSpPr>
        <p:spPr>
          <a:xfrm>
            <a:off x="6739128" y="2194560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6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 middleware: super_admin / org_admin / user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519672" y="2688336"/>
            <a:ext cx="100584" cy="100584"/>
          </a:xfrm>
          <a:prstGeom prst="ellipse">
            <a:avLst/>
          </a:prstGeom>
          <a:solidFill>
            <a:srgbClr val="2E6BFF"/>
          </a:solidFill>
          <a:ln/>
        </p:spPr>
      </p:sp>
      <p:sp>
        <p:nvSpPr>
          <p:cNvPr id="17" name="Text 15"/>
          <p:cNvSpPr/>
          <p:nvPr/>
        </p:nvSpPr>
        <p:spPr>
          <a:xfrm>
            <a:off x="6739128" y="2578608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6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authenticate → requireRole → handler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519672" y="3072384"/>
            <a:ext cx="100584" cy="100584"/>
          </a:xfrm>
          <a:prstGeom prst="ellipse">
            <a:avLst/>
          </a:prstGeom>
          <a:solidFill>
            <a:srgbClr val="2E6BFF"/>
          </a:solidFill>
          <a:ln/>
        </p:spPr>
      </p:sp>
      <p:sp>
        <p:nvSpPr>
          <p:cNvPr id="19" name="Text 17"/>
          <p:cNvSpPr/>
          <p:nvPr/>
        </p:nvSpPr>
        <p:spPr>
          <a:xfrm>
            <a:off x="6739128" y="2962656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6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Inactive accounts rejected at the gate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48640" y="3703320"/>
            <a:ext cx="5440680" cy="1965960"/>
          </a:xfrm>
          <a:prstGeom prst="roundRect">
            <a:avLst>
              <a:gd name="adj" fmla="val 4186"/>
            </a:avLst>
          </a:prstGeom>
          <a:solidFill>
            <a:srgbClr val="1B336E"/>
          </a:solidFill>
          <a:ln w="12700">
            <a:solidFill>
              <a:srgbClr val="2E6B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68680" y="3904488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0C9A7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Attack surface</a:t>
            </a:r>
            <a:endParaRPr lang="en-US" sz="1700" dirty="0"/>
          </a:p>
        </p:txBody>
      </p:sp>
      <p:sp>
        <p:nvSpPr>
          <p:cNvPr id="22" name="Shape 20"/>
          <p:cNvSpPr/>
          <p:nvPr/>
        </p:nvSpPr>
        <p:spPr>
          <a:xfrm>
            <a:off x="896112" y="4453128"/>
            <a:ext cx="100584" cy="100584"/>
          </a:xfrm>
          <a:prstGeom prst="ellipse">
            <a:avLst/>
          </a:prstGeom>
          <a:solidFill>
            <a:srgbClr val="2E6BFF"/>
          </a:solidFill>
          <a:ln/>
        </p:spPr>
      </p:sp>
      <p:sp>
        <p:nvSpPr>
          <p:cNvPr id="23" name="Text 21"/>
          <p:cNvSpPr/>
          <p:nvPr/>
        </p:nvSpPr>
        <p:spPr>
          <a:xfrm>
            <a:off x="1115568" y="4343400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6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Helmet headers (HSTS, no-sniff, frameguard)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896112" y="4837176"/>
            <a:ext cx="100584" cy="100584"/>
          </a:xfrm>
          <a:prstGeom prst="ellipse">
            <a:avLst/>
          </a:prstGeom>
          <a:solidFill>
            <a:srgbClr val="2E6BFF"/>
          </a:solidFill>
          <a:ln/>
        </p:spPr>
      </p:sp>
      <p:sp>
        <p:nvSpPr>
          <p:cNvPr id="25" name="Text 23"/>
          <p:cNvSpPr/>
          <p:nvPr/>
        </p:nvSpPr>
        <p:spPr>
          <a:xfrm>
            <a:off x="1115568" y="4727448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6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+ strict auth rate limiters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896112" y="5221224"/>
            <a:ext cx="100584" cy="100584"/>
          </a:xfrm>
          <a:prstGeom prst="ellipse">
            <a:avLst/>
          </a:prstGeom>
          <a:solidFill>
            <a:srgbClr val="2E6BFF"/>
          </a:solidFill>
          <a:ln/>
        </p:spPr>
      </p:sp>
      <p:sp>
        <p:nvSpPr>
          <p:cNvPr id="27" name="Text 25"/>
          <p:cNvSpPr/>
          <p:nvPr/>
        </p:nvSpPr>
        <p:spPr>
          <a:xfrm>
            <a:off x="1115568" y="5111496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6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Login-attempt tracking (brute-force)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6172200" y="3703320"/>
            <a:ext cx="5440680" cy="1965960"/>
          </a:xfrm>
          <a:prstGeom prst="roundRect">
            <a:avLst>
              <a:gd name="adj" fmla="val 4186"/>
            </a:avLst>
          </a:prstGeom>
          <a:solidFill>
            <a:srgbClr val="1B336E"/>
          </a:solidFill>
          <a:ln w="12700">
            <a:solidFill>
              <a:srgbClr val="2E6BF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492240" y="3904488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0C9A7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Data &amp; audit</a:t>
            </a:r>
            <a:endParaRPr lang="en-US" sz="1700" dirty="0"/>
          </a:p>
        </p:txBody>
      </p:sp>
      <p:sp>
        <p:nvSpPr>
          <p:cNvPr id="30" name="Shape 28"/>
          <p:cNvSpPr/>
          <p:nvPr/>
        </p:nvSpPr>
        <p:spPr>
          <a:xfrm>
            <a:off x="6519672" y="4453128"/>
            <a:ext cx="100584" cy="100584"/>
          </a:xfrm>
          <a:prstGeom prst="ellipse">
            <a:avLst/>
          </a:prstGeom>
          <a:solidFill>
            <a:srgbClr val="2E6BFF"/>
          </a:solidFill>
          <a:ln/>
        </p:spPr>
      </p:sp>
      <p:sp>
        <p:nvSpPr>
          <p:cNvPr id="31" name="Text 29"/>
          <p:cNvSpPr/>
          <p:nvPr/>
        </p:nvSpPr>
        <p:spPr>
          <a:xfrm>
            <a:off x="6739128" y="4343400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6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CORS allow-list via CORS_ORIGINS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6519672" y="4837176"/>
            <a:ext cx="100584" cy="100584"/>
          </a:xfrm>
          <a:prstGeom prst="ellipse">
            <a:avLst/>
          </a:prstGeom>
          <a:solidFill>
            <a:srgbClr val="2E6BFF"/>
          </a:solidFill>
          <a:ln/>
        </p:spPr>
      </p:sp>
      <p:sp>
        <p:nvSpPr>
          <p:cNvPr id="33" name="Text 31"/>
          <p:cNvSpPr/>
          <p:nvPr/>
        </p:nvSpPr>
        <p:spPr>
          <a:xfrm>
            <a:off x="6739128" y="4727448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6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log on sensitive actions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6519672" y="5221224"/>
            <a:ext cx="100584" cy="100584"/>
          </a:xfrm>
          <a:prstGeom prst="ellipse">
            <a:avLst/>
          </a:prstGeom>
          <a:solidFill>
            <a:srgbClr val="2E6BFF"/>
          </a:solidFill>
          <a:ln/>
        </p:spPr>
      </p:sp>
      <p:sp>
        <p:nvSpPr>
          <p:cNvPr id="35" name="Text 33"/>
          <p:cNvSpPr/>
          <p:nvPr/>
        </p:nvSpPr>
        <p:spPr>
          <a:xfrm>
            <a:off x="6739128" y="5111496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6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Generic error responses (no info leak)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548640" y="598932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i="1" dirty="0">
                <a:solidFill>
                  <a:srgbClr val="8AB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Least-privilege by default · secrets from environment · sessions revocable without a server restart</a:t>
            </a:r>
            <a:endParaRPr lang="en-US" sz="1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D5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FLOW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30352" y="603504"/>
            <a:ext cx="11155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245C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Anatomy of a Request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3593592" cy="1874520"/>
          </a:xfrm>
          <a:prstGeom prst="roundRect">
            <a:avLst>
              <a:gd name="adj" fmla="val 4390"/>
            </a:avLst>
          </a:prstGeom>
          <a:solidFill>
            <a:srgbClr val="FFFFFF"/>
          </a:solidFill>
          <a:ln w="12700">
            <a:solidFill>
              <a:srgbClr val="D9E2F2"/>
            </a:solidFill>
            <a:prstDash val="solid"/>
          </a:ln>
          <a:effectLst>
            <a:outerShdw sx="100000" sy="100000" kx="0" ky="0" algn="bl" rotWithShape="0" blurRad="88900" dist="25400" dir="5400000">
              <a:srgbClr val="9BB0D6">
                <a:alpha val="2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1874520"/>
            <a:ext cx="566928" cy="566928"/>
          </a:xfrm>
          <a:prstGeom prst="ellipse">
            <a:avLst/>
          </a:prstGeom>
          <a:solidFill>
            <a:srgbClr val="1D54E8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87452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554480" y="1892808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3245C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User acts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868680" y="2606040"/>
            <a:ext cx="30175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1C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 calls api.method(); Bearer token attached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078224" y="2377440"/>
            <a:ext cx="384048" cy="365760"/>
          </a:xfrm>
          <a:prstGeom prst="rightArrow">
            <a:avLst/>
          </a:prstGeom>
          <a:solidFill>
            <a:srgbClr val="2E6BFF"/>
          </a:solidFill>
          <a:ln/>
        </p:spPr>
      </p:sp>
      <p:sp>
        <p:nvSpPr>
          <p:cNvPr id="10" name="Shape 8"/>
          <p:cNvSpPr/>
          <p:nvPr/>
        </p:nvSpPr>
        <p:spPr>
          <a:xfrm>
            <a:off x="4325112" y="1600200"/>
            <a:ext cx="3593592" cy="1874520"/>
          </a:xfrm>
          <a:prstGeom prst="roundRect">
            <a:avLst>
              <a:gd name="adj" fmla="val 4390"/>
            </a:avLst>
          </a:prstGeom>
          <a:solidFill>
            <a:srgbClr val="FFFFFF"/>
          </a:solidFill>
          <a:ln w="12700">
            <a:solidFill>
              <a:srgbClr val="D9E2F2"/>
            </a:solidFill>
            <a:prstDash val="solid"/>
          </a:ln>
          <a:effectLst>
            <a:outerShdw sx="100000" sy="100000" kx="0" ky="0" algn="bl" rotWithShape="0" blurRad="88900" dist="25400" dir="5400000">
              <a:srgbClr val="9BB0D6">
                <a:alpha val="2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599432" y="1874520"/>
            <a:ext cx="566928" cy="566928"/>
          </a:xfrm>
          <a:prstGeom prst="ellipse">
            <a:avLst/>
          </a:prstGeom>
          <a:solidFill>
            <a:srgbClr val="1D54E8"/>
          </a:solidFill>
          <a:ln/>
        </p:spPr>
      </p:sp>
      <p:sp>
        <p:nvSpPr>
          <p:cNvPr id="12" name="Text 10"/>
          <p:cNvSpPr/>
          <p:nvPr/>
        </p:nvSpPr>
        <p:spPr>
          <a:xfrm>
            <a:off x="4599432" y="187452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5330952" y="1892808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3245C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Rate limit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4645152" y="2606040"/>
            <a:ext cx="30175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1C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(500/15m) or strict auth (30/15m) guard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7854696" y="2377440"/>
            <a:ext cx="384048" cy="365760"/>
          </a:xfrm>
          <a:prstGeom prst="rightArrow">
            <a:avLst/>
          </a:prstGeom>
          <a:solidFill>
            <a:srgbClr val="2E6BFF"/>
          </a:solidFill>
          <a:ln/>
        </p:spPr>
      </p:sp>
      <p:sp>
        <p:nvSpPr>
          <p:cNvPr id="16" name="Shape 14"/>
          <p:cNvSpPr/>
          <p:nvPr/>
        </p:nvSpPr>
        <p:spPr>
          <a:xfrm>
            <a:off x="8101584" y="1600200"/>
            <a:ext cx="3593592" cy="1874520"/>
          </a:xfrm>
          <a:prstGeom prst="roundRect">
            <a:avLst>
              <a:gd name="adj" fmla="val 4390"/>
            </a:avLst>
          </a:prstGeom>
          <a:solidFill>
            <a:srgbClr val="FFFFFF"/>
          </a:solidFill>
          <a:ln w="12700">
            <a:solidFill>
              <a:srgbClr val="D9E2F2"/>
            </a:solidFill>
            <a:prstDash val="solid"/>
          </a:ln>
          <a:effectLst>
            <a:outerShdw sx="100000" sy="100000" kx="0" ky="0" algn="bl" rotWithShape="0" blurRad="88900" dist="25400" dir="5400000">
              <a:srgbClr val="9BB0D6">
                <a:alpha val="2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8375904" y="1874520"/>
            <a:ext cx="566928" cy="566928"/>
          </a:xfrm>
          <a:prstGeom prst="ellipse">
            <a:avLst/>
          </a:prstGeom>
          <a:solidFill>
            <a:srgbClr val="1D54E8"/>
          </a:solidFill>
          <a:ln/>
        </p:spPr>
      </p:sp>
      <p:sp>
        <p:nvSpPr>
          <p:cNvPr id="18" name="Text 16"/>
          <p:cNvSpPr/>
          <p:nvPr/>
        </p:nvSpPr>
        <p:spPr>
          <a:xfrm>
            <a:off x="8375904" y="187452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9107424" y="1892808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3245C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Authenticate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8421624" y="2606040"/>
            <a:ext cx="30175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1C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 JWT + token_version; load active user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548640" y="3749040"/>
            <a:ext cx="3593592" cy="1874520"/>
          </a:xfrm>
          <a:prstGeom prst="roundRect">
            <a:avLst>
              <a:gd name="adj" fmla="val 4390"/>
            </a:avLst>
          </a:prstGeom>
          <a:solidFill>
            <a:srgbClr val="FFFFFF"/>
          </a:solidFill>
          <a:ln w="12700">
            <a:solidFill>
              <a:srgbClr val="D9E2F2"/>
            </a:solidFill>
            <a:prstDash val="solid"/>
          </a:ln>
          <a:effectLst>
            <a:outerShdw sx="100000" sy="100000" kx="0" ky="0" algn="bl" rotWithShape="0" blurRad="88900" dist="25400" dir="5400000">
              <a:srgbClr val="9BB0D6">
                <a:alpha val="2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822960" y="4023360"/>
            <a:ext cx="566928" cy="566928"/>
          </a:xfrm>
          <a:prstGeom prst="ellipse">
            <a:avLst/>
          </a:prstGeom>
          <a:solidFill>
            <a:srgbClr val="1D54E8"/>
          </a:solidFill>
          <a:ln/>
        </p:spPr>
      </p:sp>
      <p:sp>
        <p:nvSpPr>
          <p:cNvPr id="23" name="Text 21"/>
          <p:cNvSpPr/>
          <p:nvPr/>
        </p:nvSpPr>
        <p:spPr>
          <a:xfrm>
            <a:off x="822960" y="402336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1554480" y="4041648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3245C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Authorize</a:t>
            </a:r>
            <a:endParaRPr lang="en-US" sz="1700" dirty="0"/>
          </a:p>
        </p:txBody>
      </p:sp>
      <p:sp>
        <p:nvSpPr>
          <p:cNvPr id="25" name="Text 23"/>
          <p:cNvSpPr/>
          <p:nvPr/>
        </p:nvSpPr>
        <p:spPr>
          <a:xfrm>
            <a:off x="868680" y="4754880"/>
            <a:ext cx="30175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1C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requireRole checks super_admin / org_admin / user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4078224" y="4526280"/>
            <a:ext cx="384048" cy="365760"/>
          </a:xfrm>
          <a:prstGeom prst="rightArrow">
            <a:avLst/>
          </a:prstGeom>
          <a:solidFill>
            <a:srgbClr val="2E6BFF"/>
          </a:solidFill>
          <a:ln/>
        </p:spPr>
      </p:sp>
      <p:sp>
        <p:nvSpPr>
          <p:cNvPr id="27" name="Shape 25"/>
          <p:cNvSpPr/>
          <p:nvPr/>
        </p:nvSpPr>
        <p:spPr>
          <a:xfrm>
            <a:off x="4325112" y="3749040"/>
            <a:ext cx="3593592" cy="1874520"/>
          </a:xfrm>
          <a:prstGeom prst="roundRect">
            <a:avLst>
              <a:gd name="adj" fmla="val 4390"/>
            </a:avLst>
          </a:prstGeom>
          <a:solidFill>
            <a:srgbClr val="FFFFFF"/>
          </a:solidFill>
          <a:ln w="12700">
            <a:solidFill>
              <a:srgbClr val="D9E2F2"/>
            </a:solidFill>
            <a:prstDash val="solid"/>
          </a:ln>
          <a:effectLst>
            <a:outerShdw sx="100000" sy="100000" kx="0" ky="0" algn="bl" rotWithShape="0" blurRad="88900" dist="25400" dir="5400000">
              <a:srgbClr val="9BB0D6">
                <a:alpha val="28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4599432" y="4023360"/>
            <a:ext cx="566928" cy="566928"/>
          </a:xfrm>
          <a:prstGeom prst="ellipse">
            <a:avLst/>
          </a:prstGeom>
          <a:solidFill>
            <a:srgbClr val="1D54E8"/>
          </a:solidFill>
          <a:ln/>
        </p:spPr>
      </p:sp>
      <p:sp>
        <p:nvSpPr>
          <p:cNvPr id="29" name="Text 27"/>
          <p:cNvSpPr/>
          <p:nvPr/>
        </p:nvSpPr>
        <p:spPr>
          <a:xfrm>
            <a:off x="4599432" y="402336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000" dirty="0"/>
          </a:p>
        </p:txBody>
      </p:sp>
      <p:sp>
        <p:nvSpPr>
          <p:cNvPr id="30" name="Text 28"/>
          <p:cNvSpPr/>
          <p:nvPr/>
        </p:nvSpPr>
        <p:spPr>
          <a:xfrm>
            <a:off x="5330952" y="4041648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3245C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Handle</a:t>
            </a:r>
            <a:endParaRPr lang="en-US" sz="1700" dirty="0"/>
          </a:p>
        </p:txBody>
      </p:sp>
      <p:sp>
        <p:nvSpPr>
          <p:cNvPr id="31" name="Text 29"/>
          <p:cNvSpPr/>
          <p:nvPr/>
        </p:nvSpPr>
        <p:spPr>
          <a:xfrm>
            <a:off x="4645152" y="4754880"/>
            <a:ext cx="30175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1C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Synchronous better-sqlite3 query; audit if sensitive</a:t>
            </a:r>
            <a:endParaRPr lang="en-US" sz="1250" dirty="0"/>
          </a:p>
        </p:txBody>
      </p:sp>
      <p:sp>
        <p:nvSpPr>
          <p:cNvPr id="32" name="Shape 30"/>
          <p:cNvSpPr/>
          <p:nvPr/>
        </p:nvSpPr>
        <p:spPr>
          <a:xfrm>
            <a:off x="7854696" y="4526280"/>
            <a:ext cx="384048" cy="365760"/>
          </a:xfrm>
          <a:prstGeom prst="rightArrow">
            <a:avLst/>
          </a:prstGeom>
          <a:solidFill>
            <a:srgbClr val="2E6BFF"/>
          </a:solidFill>
          <a:ln/>
        </p:spPr>
      </p:sp>
      <p:sp>
        <p:nvSpPr>
          <p:cNvPr id="33" name="Shape 31"/>
          <p:cNvSpPr/>
          <p:nvPr/>
        </p:nvSpPr>
        <p:spPr>
          <a:xfrm>
            <a:off x="8101584" y="3749040"/>
            <a:ext cx="3593592" cy="1874520"/>
          </a:xfrm>
          <a:prstGeom prst="roundRect">
            <a:avLst>
              <a:gd name="adj" fmla="val 4390"/>
            </a:avLst>
          </a:prstGeom>
          <a:solidFill>
            <a:srgbClr val="FFFFFF"/>
          </a:solidFill>
          <a:ln w="12700">
            <a:solidFill>
              <a:srgbClr val="D9E2F2"/>
            </a:solidFill>
            <a:prstDash val="solid"/>
          </a:ln>
          <a:effectLst>
            <a:outerShdw sx="100000" sy="100000" kx="0" ky="0" algn="bl" rotWithShape="0" blurRad="88900" dist="25400" dir="5400000">
              <a:srgbClr val="9BB0D6">
                <a:alpha val="28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8375904" y="4023360"/>
            <a:ext cx="566928" cy="566928"/>
          </a:xfrm>
          <a:prstGeom prst="ellipse">
            <a:avLst/>
          </a:prstGeom>
          <a:solidFill>
            <a:srgbClr val="1D54E8"/>
          </a:solidFill>
          <a:ln/>
        </p:spPr>
      </p:sp>
      <p:sp>
        <p:nvSpPr>
          <p:cNvPr id="35" name="Text 33"/>
          <p:cNvSpPr/>
          <p:nvPr/>
        </p:nvSpPr>
        <p:spPr>
          <a:xfrm>
            <a:off x="8375904" y="402336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2000" dirty="0"/>
          </a:p>
        </p:txBody>
      </p:sp>
      <p:sp>
        <p:nvSpPr>
          <p:cNvPr id="36" name="Text 34"/>
          <p:cNvSpPr/>
          <p:nvPr/>
        </p:nvSpPr>
        <p:spPr>
          <a:xfrm>
            <a:off x="9107424" y="4041648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3245C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Respond</a:t>
            </a:r>
            <a:endParaRPr lang="en-US" sz="1700" dirty="0"/>
          </a:p>
        </p:txBody>
      </p:sp>
      <p:sp>
        <p:nvSpPr>
          <p:cNvPr id="37" name="Text 35"/>
          <p:cNvSpPr/>
          <p:nvPr/>
        </p:nvSpPr>
        <p:spPr>
          <a:xfrm>
            <a:off x="8421624" y="4754880"/>
            <a:ext cx="30175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1C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 back to SPA — or PDF/CSV/XLSX blob</a:t>
            </a:r>
            <a:endParaRPr lang="en-US" sz="12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D5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CAPABILITIES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30352" y="603504"/>
            <a:ext cx="11155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245C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Feature Domains at a Glance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2615184" cy="4480560"/>
          </a:xfrm>
          <a:prstGeom prst="roundRect">
            <a:avLst>
              <a:gd name="adj" fmla="val 3147"/>
            </a:avLst>
          </a:prstGeom>
          <a:solidFill>
            <a:srgbClr val="FFFFFF"/>
          </a:solidFill>
          <a:ln w="12700">
            <a:solidFill>
              <a:srgbClr val="D9E2F2"/>
            </a:solidFill>
            <a:prstDash val="solid"/>
          </a:ln>
          <a:effectLst>
            <a:outerShdw sx="100000" sy="100000" kx="0" ky="0" algn="bl" rotWithShape="0" blurRad="88900" dist="25400" dir="5400000">
              <a:srgbClr val="9BB0D6">
                <a:alpha val="2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554480"/>
            <a:ext cx="2615184" cy="1051560"/>
          </a:xfrm>
          <a:prstGeom prst="roundRect">
            <a:avLst>
              <a:gd name="adj" fmla="val 7826"/>
            </a:avLst>
          </a:prstGeom>
          <a:solidFill>
            <a:srgbClr val="000000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2194560"/>
            <a:ext cx="2615184" cy="41148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1737360"/>
            <a:ext cx="261518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LMS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48640" y="2011680"/>
            <a:ext cx="261518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Learn &amp; Certify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822960" y="2926080"/>
            <a:ext cx="109728" cy="109728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10" name="Text 8"/>
          <p:cNvSpPr/>
          <p:nvPr/>
        </p:nvSpPr>
        <p:spPr>
          <a:xfrm>
            <a:off x="1024128" y="2825496"/>
            <a:ext cx="1975104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C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Role-based tracks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822960" y="3493008"/>
            <a:ext cx="109728" cy="109728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12" name="Text 10"/>
          <p:cNvSpPr/>
          <p:nvPr/>
        </p:nvSpPr>
        <p:spPr>
          <a:xfrm>
            <a:off x="1024128" y="3392424"/>
            <a:ext cx="1975104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C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Quizzes &amp; policies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822960" y="4059936"/>
            <a:ext cx="109728" cy="109728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14" name="Text 12"/>
          <p:cNvSpPr/>
          <p:nvPr/>
        </p:nvSpPr>
        <p:spPr>
          <a:xfrm>
            <a:off x="1024128" y="3959352"/>
            <a:ext cx="1975104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C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Certificates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822960" y="4626864"/>
            <a:ext cx="109728" cy="109728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16" name="Text 14"/>
          <p:cNvSpPr/>
          <p:nvPr/>
        </p:nvSpPr>
        <p:spPr>
          <a:xfrm>
            <a:off x="1024128" y="4526280"/>
            <a:ext cx="1975104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C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Gamification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822960" y="5193792"/>
            <a:ext cx="109728" cy="109728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18" name="Text 16"/>
          <p:cNvSpPr/>
          <p:nvPr/>
        </p:nvSpPr>
        <p:spPr>
          <a:xfrm>
            <a:off x="1024128" y="5093208"/>
            <a:ext cx="1975104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C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Discussions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3346704" y="1554480"/>
            <a:ext cx="2615184" cy="4480560"/>
          </a:xfrm>
          <a:prstGeom prst="roundRect">
            <a:avLst>
              <a:gd name="adj" fmla="val 3147"/>
            </a:avLst>
          </a:prstGeom>
          <a:solidFill>
            <a:srgbClr val="FFFFFF"/>
          </a:solidFill>
          <a:ln w="12700">
            <a:solidFill>
              <a:srgbClr val="D9E2F2"/>
            </a:solidFill>
            <a:prstDash val="solid"/>
          </a:ln>
          <a:effectLst>
            <a:outerShdw sx="100000" sy="100000" kx="0" ky="0" algn="bl" rotWithShape="0" blurRad="88900" dist="25400" dir="5400000">
              <a:srgbClr val="9BB0D6">
                <a:alpha val="2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346704" y="1554480"/>
            <a:ext cx="2615184" cy="1051560"/>
          </a:xfrm>
          <a:prstGeom prst="roundRect">
            <a:avLst>
              <a:gd name="adj" fmla="val 7826"/>
            </a:avLst>
          </a:prstGeom>
          <a:solidFill>
            <a:srgbClr val="000000"/>
          </a:solidFill>
          <a:ln/>
        </p:spPr>
      </p:sp>
      <p:sp>
        <p:nvSpPr>
          <p:cNvPr id="21" name="Shape 19"/>
          <p:cNvSpPr/>
          <p:nvPr/>
        </p:nvSpPr>
        <p:spPr>
          <a:xfrm>
            <a:off x="3346704" y="2194560"/>
            <a:ext cx="2615184" cy="41148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22" name="Text 20"/>
          <p:cNvSpPr/>
          <p:nvPr/>
        </p:nvSpPr>
        <p:spPr>
          <a:xfrm>
            <a:off x="3346704" y="1737360"/>
            <a:ext cx="261518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PRM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3346704" y="2011680"/>
            <a:ext cx="261518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Sell &amp; Protect</a:t>
            </a:r>
            <a:endParaRPr lang="en-US" sz="1800" dirty="0"/>
          </a:p>
        </p:txBody>
      </p:sp>
      <p:sp>
        <p:nvSpPr>
          <p:cNvPr id="24" name="Shape 22"/>
          <p:cNvSpPr/>
          <p:nvPr/>
        </p:nvSpPr>
        <p:spPr>
          <a:xfrm>
            <a:off x="3621024" y="2926080"/>
            <a:ext cx="109728" cy="109728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25" name="Text 23"/>
          <p:cNvSpPr/>
          <p:nvPr/>
        </p:nvSpPr>
        <p:spPr>
          <a:xfrm>
            <a:off x="3822192" y="2825496"/>
            <a:ext cx="1975104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C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Deal registration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3621024" y="3493008"/>
            <a:ext cx="109728" cy="109728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27" name="Text 25"/>
          <p:cNvSpPr/>
          <p:nvPr/>
        </p:nvSpPr>
        <p:spPr>
          <a:xfrm>
            <a:off x="3822192" y="3392424"/>
            <a:ext cx="1975104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C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navigator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3621024" y="4059936"/>
            <a:ext cx="109728" cy="109728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29" name="Text 27"/>
          <p:cNvSpPr/>
          <p:nvPr/>
        </p:nvSpPr>
        <p:spPr>
          <a:xfrm>
            <a:off x="3822192" y="3959352"/>
            <a:ext cx="1975104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C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Quote builder</a:t>
            </a:r>
            <a:endParaRPr lang="en-US" sz="1250" dirty="0"/>
          </a:p>
        </p:txBody>
      </p:sp>
      <p:sp>
        <p:nvSpPr>
          <p:cNvPr id="30" name="Shape 28"/>
          <p:cNvSpPr/>
          <p:nvPr/>
        </p:nvSpPr>
        <p:spPr>
          <a:xfrm>
            <a:off x="3621024" y="4626864"/>
            <a:ext cx="109728" cy="109728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31" name="Text 29"/>
          <p:cNvSpPr/>
          <p:nvPr/>
        </p:nvSpPr>
        <p:spPr>
          <a:xfrm>
            <a:off x="3822192" y="4526280"/>
            <a:ext cx="1975104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C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Partner tiers</a:t>
            </a:r>
            <a:endParaRPr lang="en-US" sz="1250" dirty="0"/>
          </a:p>
        </p:txBody>
      </p:sp>
      <p:sp>
        <p:nvSpPr>
          <p:cNvPr id="32" name="Shape 30"/>
          <p:cNvSpPr/>
          <p:nvPr/>
        </p:nvSpPr>
        <p:spPr>
          <a:xfrm>
            <a:off x="3621024" y="5193792"/>
            <a:ext cx="109728" cy="109728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33" name="Text 31"/>
          <p:cNvSpPr/>
          <p:nvPr/>
        </p:nvSpPr>
        <p:spPr>
          <a:xfrm>
            <a:off x="3822192" y="5093208"/>
            <a:ext cx="1975104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C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Forecasting</a:t>
            </a:r>
            <a:endParaRPr lang="en-US" sz="1250" dirty="0"/>
          </a:p>
        </p:txBody>
      </p:sp>
      <p:sp>
        <p:nvSpPr>
          <p:cNvPr id="34" name="Shape 32"/>
          <p:cNvSpPr/>
          <p:nvPr/>
        </p:nvSpPr>
        <p:spPr>
          <a:xfrm>
            <a:off x="6144768" y="1554480"/>
            <a:ext cx="2615184" cy="4480560"/>
          </a:xfrm>
          <a:prstGeom prst="roundRect">
            <a:avLst>
              <a:gd name="adj" fmla="val 3147"/>
            </a:avLst>
          </a:prstGeom>
          <a:solidFill>
            <a:srgbClr val="FFFFFF"/>
          </a:solidFill>
          <a:ln w="12700">
            <a:solidFill>
              <a:srgbClr val="D9E2F2"/>
            </a:solidFill>
            <a:prstDash val="solid"/>
          </a:ln>
          <a:effectLst>
            <a:outerShdw sx="100000" sy="100000" kx="0" ky="0" algn="bl" rotWithShape="0" blurRad="88900" dist="25400" dir="5400000">
              <a:srgbClr val="9BB0D6">
                <a:alpha val="28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6144768" y="1554480"/>
            <a:ext cx="2615184" cy="1051560"/>
          </a:xfrm>
          <a:prstGeom prst="roundRect">
            <a:avLst>
              <a:gd name="adj" fmla="val 7826"/>
            </a:avLst>
          </a:prstGeom>
          <a:solidFill>
            <a:srgbClr val="000000"/>
          </a:solidFill>
          <a:ln/>
        </p:spPr>
      </p:sp>
      <p:sp>
        <p:nvSpPr>
          <p:cNvPr id="36" name="Shape 34"/>
          <p:cNvSpPr/>
          <p:nvPr/>
        </p:nvSpPr>
        <p:spPr>
          <a:xfrm>
            <a:off x="6144768" y="2194560"/>
            <a:ext cx="2615184" cy="41148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37" name="Text 35"/>
          <p:cNvSpPr/>
          <p:nvPr/>
        </p:nvSpPr>
        <p:spPr>
          <a:xfrm>
            <a:off x="6144768" y="1737360"/>
            <a:ext cx="261518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6144768" y="2011680"/>
            <a:ext cx="261518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Enable</a:t>
            </a:r>
            <a:endParaRPr lang="en-US" sz="1800" dirty="0"/>
          </a:p>
        </p:txBody>
      </p:sp>
      <p:sp>
        <p:nvSpPr>
          <p:cNvPr id="39" name="Shape 37"/>
          <p:cNvSpPr/>
          <p:nvPr/>
        </p:nvSpPr>
        <p:spPr>
          <a:xfrm>
            <a:off x="6419088" y="2926080"/>
            <a:ext cx="109728" cy="109728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40" name="Text 38"/>
          <p:cNvSpPr/>
          <p:nvPr/>
        </p:nvSpPr>
        <p:spPr>
          <a:xfrm>
            <a:off x="6620256" y="2825496"/>
            <a:ext cx="1975104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C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Marketing hub</a:t>
            </a:r>
            <a:endParaRPr lang="en-US" sz="1250" dirty="0"/>
          </a:p>
        </p:txBody>
      </p:sp>
      <p:sp>
        <p:nvSpPr>
          <p:cNvPr id="41" name="Shape 39"/>
          <p:cNvSpPr/>
          <p:nvPr/>
        </p:nvSpPr>
        <p:spPr>
          <a:xfrm>
            <a:off x="6419088" y="3493008"/>
            <a:ext cx="109728" cy="109728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42" name="Text 40"/>
          <p:cNvSpPr/>
          <p:nvPr/>
        </p:nvSpPr>
        <p:spPr>
          <a:xfrm>
            <a:off x="6620256" y="3392424"/>
            <a:ext cx="1975104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C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 hub</a:t>
            </a:r>
            <a:endParaRPr lang="en-US" sz="1250" dirty="0"/>
          </a:p>
        </p:txBody>
      </p:sp>
      <p:sp>
        <p:nvSpPr>
          <p:cNvPr id="43" name="Shape 41"/>
          <p:cNvSpPr/>
          <p:nvPr/>
        </p:nvSpPr>
        <p:spPr>
          <a:xfrm>
            <a:off x="6419088" y="4059936"/>
            <a:ext cx="109728" cy="109728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44" name="Text 42"/>
          <p:cNvSpPr/>
          <p:nvPr/>
        </p:nvSpPr>
        <p:spPr>
          <a:xfrm>
            <a:off x="6620256" y="3959352"/>
            <a:ext cx="1975104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C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labs</a:t>
            </a:r>
            <a:endParaRPr lang="en-US" sz="1250" dirty="0"/>
          </a:p>
        </p:txBody>
      </p:sp>
      <p:sp>
        <p:nvSpPr>
          <p:cNvPr id="45" name="Shape 43"/>
          <p:cNvSpPr/>
          <p:nvPr/>
        </p:nvSpPr>
        <p:spPr>
          <a:xfrm>
            <a:off x="6419088" y="4626864"/>
            <a:ext cx="109728" cy="109728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46" name="Text 44"/>
          <p:cNvSpPr/>
          <p:nvPr/>
        </p:nvSpPr>
        <p:spPr>
          <a:xfrm>
            <a:off x="6620256" y="4526280"/>
            <a:ext cx="1975104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C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Resource library</a:t>
            </a:r>
            <a:endParaRPr lang="en-US" sz="1250" dirty="0"/>
          </a:p>
        </p:txBody>
      </p:sp>
      <p:sp>
        <p:nvSpPr>
          <p:cNvPr id="47" name="Shape 45"/>
          <p:cNvSpPr/>
          <p:nvPr/>
        </p:nvSpPr>
        <p:spPr>
          <a:xfrm>
            <a:off x="8942832" y="1554480"/>
            <a:ext cx="2615184" cy="4480560"/>
          </a:xfrm>
          <a:prstGeom prst="roundRect">
            <a:avLst>
              <a:gd name="adj" fmla="val 3147"/>
            </a:avLst>
          </a:prstGeom>
          <a:solidFill>
            <a:srgbClr val="FFFFFF"/>
          </a:solidFill>
          <a:ln w="12700">
            <a:solidFill>
              <a:srgbClr val="D9E2F2"/>
            </a:solidFill>
            <a:prstDash val="solid"/>
          </a:ln>
          <a:effectLst>
            <a:outerShdw sx="100000" sy="100000" kx="0" ky="0" algn="bl" rotWithShape="0" blurRad="88900" dist="25400" dir="5400000">
              <a:srgbClr val="9BB0D6">
                <a:alpha val="28000"/>
              </a:srgbClr>
            </a:outerShdw>
          </a:effectLst>
        </p:spPr>
      </p:sp>
      <p:sp>
        <p:nvSpPr>
          <p:cNvPr id="48" name="Shape 46"/>
          <p:cNvSpPr/>
          <p:nvPr/>
        </p:nvSpPr>
        <p:spPr>
          <a:xfrm>
            <a:off x="8942832" y="1554480"/>
            <a:ext cx="2615184" cy="1051560"/>
          </a:xfrm>
          <a:prstGeom prst="roundRect">
            <a:avLst>
              <a:gd name="adj" fmla="val 7826"/>
            </a:avLst>
          </a:prstGeom>
          <a:solidFill>
            <a:srgbClr val="000000"/>
          </a:solidFill>
          <a:ln/>
        </p:spPr>
      </p:sp>
      <p:sp>
        <p:nvSpPr>
          <p:cNvPr id="49" name="Shape 47"/>
          <p:cNvSpPr/>
          <p:nvPr/>
        </p:nvSpPr>
        <p:spPr>
          <a:xfrm>
            <a:off x="8942832" y="2194560"/>
            <a:ext cx="2615184" cy="41148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50" name="Text 48"/>
          <p:cNvSpPr/>
          <p:nvPr/>
        </p:nvSpPr>
        <p:spPr>
          <a:xfrm>
            <a:off x="8942832" y="1737360"/>
            <a:ext cx="261518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</a:t>
            </a:r>
            <a:endParaRPr lang="en-US" sz="1100" dirty="0"/>
          </a:p>
        </p:txBody>
      </p:sp>
      <p:sp>
        <p:nvSpPr>
          <p:cNvPr id="51" name="Text 49"/>
          <p:cNvSpPr/>
          <p:nvPr/>
        </p:nvSpPr>
        <p:spPr>
          <a:xfrm>
            <a:off x="8942832" y="2011680"/>
            <a:ext cx="261518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Operate</a:t>
            </a:r>
            <a:endParaRPr lang="en-US" sz="1800" dirty="0"/>
          </a:p>
        </p:txBody>
      </p:sp>
      <p:sp>
        <p:nvSpPr>
          <p:cNvPr id="52" name="Shape 50"/>
          <p:cNvSpPr/>
          <p:nvPr/>
        </p:nvSpPr>
        <p:spPr>
          <a:xfrm>
            <a:off x="9217152" y="2926080"/>
            <a:ext cx="109728" cy="109728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53" name="Text 51"/>
          <p:cNvSpPr/>
          <p:nvPr/>
        </p:nvSpPr>
        <p:spPr>
          <a:xfrm>
            <a:off x="9418320" y="2825496"/>
            <a:ext cx="1975104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C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Ops console</a:t>
            </a:r>
            <a:endParaRPr lang="en-US" sz="1250" dirty="0"/>
          </a:p>
        </p:txBody>
      </p:sp>
      <p:sp>
        <p:nvSpPr>
          <p:cNvPr id="54" name="Shape 52"/>
          <p:cNvSpPr/>
          <p:nvPr/>
        </p:nvSpPr>
        <p:spPr>
          <a:xfrm>
            <a:off x="9217152" y="3493008"/>
            <a:ext cx="109728" cy="109728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55" name="Text 53"/>
          <p:cNvSpPr/>
          <p:nvPr/>
        </p:nvSpPr>
        <p:spPr>
          <a:xfrm>
            <a:off x="9418320" y="3392424"/>
            <a:ext cx="1975104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C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 approval</a:t>
            </a:r>
            <a:endParaRPr lang="en-US" sz="1250" dirty="0"/>
          </a:p>
        </p:txBody>
      </p:sp>
      <p:sp>
        <p:nvSpPr>
          <p:cNvPr id="56" name="Shape 54"/>
          <p:cNvSpPr/>
          <p:nvPr/>
        </p:nvSpPr>
        <p:spPr>
          <a:xfrm>
            <a:off x="9217152" y="4059936"/>
            <a:ext cx="109728" cy="109728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57" name="Text 55"/>
          <p:cNvSpPr/>
          <p:nvPr/>
        </p:nvSpPr>
        <p:spPr>
          <a:xfrm>
            <a:off x="9418320" y="3959352"/>
            <a:ext cx="1975104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C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SSO / SAML</a:t>
            </a:r>
            <a:endParaRPr lang="en-US" sz="1250" dirty="0"/>
          </a:p>
        </p:txBody>
      </p:sp>
      <p:sp>
        <p:nvSpPr>
          <p:cNvPr id="58" name="Shape 56"/>
          <p:cNvSpPr/>
          <p:nvPr/>
        </p:nvSpPr>
        <p:spPr>
          <a:xfrm>
            <a:off x="9217152" y="4626864"/>
            <a:ext cx="109728" cy="109728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59" name="Text 57"/>
          <p:cNvSpPr/>
          <p:nvPr/>
        </p:nvSpPr>
        <p:spPr>
          <a:xfrm>
            <a:off x="9418320" y="4526280"/>
            <a:ext cx="1975104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C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keys</a:t>
            </a:r>
            <a:endParaRPr lang="en-US" sz="1250" dirty="0"/>
          </a:p>
        </p:txBody>
      </p:sp>
      <p:sp>
        <p:nvSpPr>
          <p:cNvPr id="60" name="Shape 58"/>
          <p:cNvSpPr/>
          <p:nvPr/>
        </p:nvSpPr>
        <p:spPr>
          <a:xfrm>
            <a:off x="9217152" y="5193792"/>
            <a:ext cx="109728" cy="109728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61" name="Text 59"/>
          <p:cNvSpPr/>
          <p:nvPr/>
        </p:nvSpPr>
        <p:spPr>
          <a:xfrm>
            <a:off x="9418320" y="5093208"/>
            <a:ext cx="1975104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C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Reporting</a:t>
            </a:r>
            <a:endParaRPr lang="en-US" sz="12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D5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 1 — LMS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30352" y="603504"/>
            <a:ext cx="11155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245C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Learn, Assess &amp; Certify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5440680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9E2F2"/>
            </a:solidFill>
            <a:prstDash val="solid"/>
          </a:ln>
          <a:effectLst>
            <a:outerShdw sx="100000" sy="100000" kx="0" ky="0" algn="bl" rotWithShape="0" blurRad="88900" dist="25400" dir="5400000">
              <a:srgbClr val="9BB0D6">
                <a:alpha val="2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86384" y="1682496"/>
            <a:ext cx="420624" cy="420624"/>
          </a:xfrm>
          <a:prstGeom prst="ellipse">
            <a:avLst/>
          </a:prstGeom>
          <a:solidFill>
            <a:srgbClr val="1D54E8"/>
          </a:solidFill>
          <a:ln/>
        </p:spPr>
      </p:sp>
      <p:sp>
        <p:nvSpPr>
          <p:cNvPr id="6" name="Text 4"/>
          <p:cNvSpPr/>
          <p:nvPr/>
        </p:nvSpPr>
        <p:spPr>
          <a:xfrm>
            <a:off x="786384" y="1682496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371600" y="1645920"/>
            <a:ext cx="4434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3245C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Role-based learning tracks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41248" y="2066544"/>
            <a:ext cx="489204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1C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Separate Sales, Presales and Technical courses — modules → lessons → quizzes — rendered from Markdown content modules.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172200" y="1463040"/>
            <a:ext cx="5440680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9E2F2"/>
            </a:solidFill>
            <a:prstDash val="solid"/>
          </a:ln>
          <a:effectLst>
            <a:outerShdw sx="100000" sy="100000" kx="0" ky="0" algn="bl" rotWithShape="0" blurRad="88900" dist="25400" dir="5400000">
              <a:srgbClr val="9BB0D6">
                <a:alpha val="2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409944" y="1682496"/>
            <a:ext cx="420624" cy="420624"/>
          </a:xfrm>
          <a:prstGeom prst="ellipse">
            <a:avLst/>
          </a:prstGeom>
          <a:solidFill>
            <a:srgbClr val="13245C"/>
          </a:solidFill>
          <a:ln/>
        </p:spPr>
      </p:sp>
      <p:sp>
        <p:nvSpPr>
          <p:cNvPr id="11" name="Text 9"/>
          <p:cNvSpPr/>
          <p:nvPr/>
        </p:nvSpPr>
        <p:spPr>
          <a:xfrm>
            <a:off x="6409944" y="1682496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995160" y="1645920"/>
            <a:ext cx="4434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3245C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Assessment &amp; retake policy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6464808" y="2066544"/>
            <a:ext cx="489204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1C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Quiz scoring with pass thresholds; admin-set max attempts and cooldown windows per quiz.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48640" y="3035808"/>
            <a:ext cx="5440680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9E2F2"/>
            </a:solidFill>
            <a:prstDash val="solid"/>
          </a:ln>
          <a:effectLst>
            <a:outerShdw sx="100000" sy="100000" kx="0" ky="0" algn="bl" rotWithShape="0" blurRad="88900" dist="25400" dir="5400000">
              <a:srgbClr val="9BB0D6">
                <a:alpha val="2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786384" y="3255264"/>
            <a:ext cx="420624" cy="420624"/>
          </a:xfrm>
          <a:prstGeom prst="ellipse">
            <a:avLst/>
          </a:prstGeom>
          <a:solidFill>
            <a:srgbClr val="1D54E8"/>
          </a:solidFill>
          <a:ln/>
        </p:spPr>
      </p:sp>
      <p:sp>
        <p:nvSpPr>
          <p:cNvPr id="16" name="Text 14"/>
          <p:cNvSpPr/>
          <p:nvPr/>
        </p:nvSpPr>
        <p:spPr>
          <a:xfrm>
            <a:off x="786384" y="3255264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371600" y="3218688"/>
            <a:ext cx="4434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3245C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Certificates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841248" y="3639312"/>
            <a:ext cx="489204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1C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Server-generated PDF certificates issued on learning-path completion (pdfkit).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172200" y="3035808"/>
            <a:ext cx="5440680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9E2F2"/>
            </a:solidFill>
            <a:prstDash val="solid"/>
          </a:ln>
          <a:effectLst>
            <a:outerShdw sx="100000" sy="100000" kx="0" ky="0" algn="bl" rotWithShape="0" blurRad="88900" dist="25400" dir="5400000">
              <a:srgbClr val="9BB0D6">
                <a:alpha val="2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409944" y="3255264"/>
            <a:ext cx="420624" cy="420624"/>
          </a:xfrm>
          <a:prstGeom prst="ellipse">
            <a:avLst/>
          </a:prstGeom>
          <a:solidFill>
            <a:srgbClr val="13245C"/>
          </a:solidFill>
          <a:ln/>
        </p:spPr>
      </p:sp>
      <p:sp>
        <p:nvSpPr>
          <p:cNvPr id="21" name="Text 19"/>
          <p:cNvSpPr/>
          <p:nvPr/>
        </p:nvSpPr>
        <p:spPr>
          <a:xfrm>
            <a:off x="6409944" y="3255264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995160" y="3218688"/>
            <a:ext cx="4434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3245C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Gamification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6464808" y="3639312"/>
            <a:ext cx="489204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1C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Points per action, badges, and global / org leaderboards to drive engagement and streaks.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548640" y="4608576"/>
            <a:ext cx="5440680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9E2F2"/>
            </a:solidFill>
            <a:prstDash val="solid"/>
          </a:ln>
          <a:effectLst>
            <a:outerShdw sx="100000" sy="100000" kx="0" ky="0" algn="bl" rotWithShape="0" blurRad="88900" dist="25400" dir="5400000">
              <a:srgbClr val="9BB0D6">
                <a:alpha val="2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786384" y="4828032"/>
            <a:ext cx="420624" cy="420624"/>
          </a:xfrm>
          <a:prstGeom prst="ellipse">
            <a:avLst/>
          </a:prstGeom>
          <a:solidFill>
            <a:srgbClr val="1D54E8"/>
          </a:solidFill>
          <a:ln/>
        </p:spPr>
      </p:sp>
      <p:sp>
        <p:nvSpPr>
          <p:cNvPr id="26" name="Text 24"/>
          <p:cNvSpPr/>
          <p:nvPr/>
        </p:nvSpPr>
        <p:spPr>
          <a:xfrm>
            <a:off x="786384" y="4828032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1371600" y="4791456"/>
            <a:ext cx="4434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3245C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Discussions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841248" y="5212080"/>
            <a:ext cx="489204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1C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Threaded course forum with replies, pinning, and marked answers.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6172200" y="4608576"/>
            <a:ext cx="5440680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9E2F2"/>
            </a:solidFill>
            <a:prstDash val="solid"/>
          </a:ln>
          <a:effectLst>
            <a:outerShdw sx="100000" sy="100000" kx="0" ky="0" algn="bl" rotWithShape="0" blurRad="88900" dist="25400" dir="5400000">
              <a:srgbClr val="9BB0D6">
                <a:alpha val="28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6409944" y="4828032"/>
            <a:ext cx="420624" cy="420624"/>
          </a:xfrm>
          <a:prstGeom prst="ellipse">
            <a:avLst/>
          </a:prstGeom>
          <a:solidFill>
            <a:srgbClr val="13245C"/>
          </a:solidFill>
          <a:ln/>
        </p:spPr>
      </p:sp>
      <p:sp>
        <p:nvSpPr>
          <p:cNvPr id="31" name="Text 29"/>
          <p:cNvSpPr/>
          <p:nvPr/>
        </p:nvSpPr>
        <p:spPr>
          <a:xfrm>
            <a:off x="6409944" y="4828032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6995160" y="4791456"/>
            <a:ext cx="4434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3245C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Progress &amp; recommendations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6464808" y="5212080"/>
            <a:ext cx="489204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1C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Per-user lesson/quiz tracking with a recommendations endpoint for next steps.</a:t>
            </a:r>
            <a:endParaRPr lang="en-US" sz="11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D5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 2 — PRM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30352" y="603504"/>
            <a:ext cx="11155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245C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Sell &amp; Protect the Channel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5440680" cy="16459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9E2F2"/>
            </a:solidFill>
            <a:prstDash val="solid"/>
          </a:ln>
          <a:effectLst>
            <a:outerShdw sx="100000" sy="100000" kx="0" ky="0" algn="bl" rotWithShape="0" blurRad="88900" dist="25400" dir="5400000">
              <a:srgbClr val="9BB0D6">
                <a:alpha val="2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04672" y="1700784"/>
            <a:ext cx="457200" cy="457200"/>
          </a:xfrm>
          <a:prstGeom prst="ellipse">
            <a:avLst/>
          </a:prstGeom>
          <a:solidFill>
            <a:srgbClr val="1D54E8"/>
          </a:solidFill>
          <a:ln/>
        </p:spPr>
      </p:sp>
      <p:sp>
        <p:nvSpPr>
          <p:cNvPr id="6" name="Text 4"/>
          <p:cNvSpPr/>
          <p:nvPr/>
        </p:nvSpPr>
        <p:spPr>
          <a:xfrm>
            <a:off x="804672" y="170078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417320" y="1682496"/>
            <a:ext cx="4389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3245C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Deal registration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41248" y="2194560"/>
            <a:ext cx="49377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1C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Partners register opportunities; duplicate detection flags conflicts. 'Active Protection' persists while the partner keeps engaging the account (reaffirm resets the clock).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172200" y="1463040"/>
            <a:ext cx="5440680" cy="16459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9E2F2"/>
            </a:solidFill>
            <a:prstDash val="solid"/>
          </a:ln>
          <a:effectLst>
            <a:outerShdw sx="100000" sy="100000" kx="0" ky="0" algn="bl" rotWithShape="0" blurRad="88900" dist="25400" dir="5400000">
              <a:srgbClr val="9BB0D6">
                <a:alpha val="2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428232" y="1700784"/>
            <a:ext cx="457200" cy="457200"/>
          </a:xfrm>
          <a:prstGeom prst="ellipse">
            <a:avLst/>
          </a:prstGeom>
          <a:solidFill>
            <a:srgbClr val="13245C"/>
          </a:solidFill>
          <a:ln/>
        </p:spPr>
      </p:sp>
      <p:sp>
        <p:nvSpPr>
          <p:cNvPr id="11" name="Text 9"/>
          <p:cNvSpPr/>
          <p:nvPr/>
        </p:nvSpPr>
        <p:spPr>
          <a:xfrm>
            <a:off x="6428232" y="170078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7040880" y="1682496"/>
            <a:ext cx="4389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3245C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Sales navigator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464808" y="2194560"/>
            <a:ext cx="49377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1C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Lightweight pipeline of leads with stages, estimated value, next actions, and activity notes.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48640" y="3337560"/>
            <a:ext cx="5440680" cy="16459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9E2F2"/>
            </a:solidFill>
            <a:prstDash val="solid"/>
          </a:ln>
          <a:effectLst>
            <a:outerShdw sx="100000" sy="100000" kx="0" ky="0" algn="bl" rotWithShape="0" blurRad="88900" dist="25400" dir="5400000">
              <a:srgbClr val="9BB0D6">
                <a:alpha val="2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04672" y="3575304"/>
            <a:ext cx="457200" cy="457200"/>
          </a:xfrm>
          <a:prstGeom prst="ellipse">
            <a:avLst/>
          </a:prstGeom>
          <a:solidFill>
            <a:srgbClr val="1D54E8"/>
          </a:solidFill>
          <a:ln/>
        </p:spPr>
      </p:sp>
      <p:sp>
        <p:nvSpPr>
          <p:cNvPr id="16" name="Text 14"/>
          <p:cNvSpPr/>
          <p:nvPr/>
        </p:nvSpPr>
        <p:spPr>
          <a:xfrm>
            <a:off x="804672" y="357530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1417320" y="3557016"/>
            <a:ext cx="4389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3245C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Forecasting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841248" y="4069080"/>
            <a:ext cx="49377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1C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Weighted pipeline view aggregated from lead stages and values.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172200" y="3337560"/>
            <a:ext cx="5440680" cy="16459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9E2F2"/>
            </a:solidFill>
            <a:prstDash val="solid"/>
          </a:ln>
          <a:effectLst>
            <a:outerShdw sx="100000" sy="100000" kx="0" ky="0" algn="bl" rotWithShape="0" blurRad="88900" dist="25400" dir="5400000">
              <a:srgbClr val="9BB0D6">
                <a:alpha val="2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428232" y="3575304"/>
            <a:ext cx="457200" cy="457200"/>
          </a:xfrm>
          <a:prstGeom prst="ellipse">
            <a:avLst/>
          </a:prstGeom>
          <a:solidFill>
            <a:srgbClr val="13245C"/>
          </a:solidFill>
          <a:ln/>
        </p:spPr>
      </p:sp>
      <p:sp>
        <p:nvSpPr>
          <p:cNvPr id="21" name="Text 19"/>
          <p:cNvSpPr/>
          <p:nvPr/>
        </p:nvSpPr>
        <p:spPr>
          <a:xfrm>
            <a:off x="6428232" y="357530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7040880" y="3557016"/>
            <a:ext cx="4389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3245C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Quote builder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6464808" y="4069080"/>
            <a:ext cx="49377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1C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Builds customer quotes from the Nobus pricing catalog with discounts and line items; exportable as PDF/XLSX.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548640" y="5349240"/>
            <a:ext cx="11091672" cy="960120"/>
          </a:xfrm>
          <a:prstGeom prst="roundRect">
            <a:avLst>
              <a:gd name="adj" fmla="val 8571"/>
            </a:avLst>
          </a:prstGeom>
          <a:solidFill>
            <a:srgbClr val="EEF4FF"/>
          </a:solidFill>
          <a:ln w="12700">
            <a:solidFill>
              <a:srgbClr val="DCE8F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77240" y="5440680"/>
            <a:ext cx="10607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13245C"/>
                </a:solidFill>
              </a:rPr>
              <a:t>Channel-conflict protection is the anchor feature — </a:t>
            </a:r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1C2333"/>
                </a:solidFill>
              </a:rPr>
              <a:t>deal state (pending → approved → closed) with reviewer, rejection reason, and activity-based expiry keeps partners confident that registered deals are theirs.</a:t>
            </a:r>
            <a:endParaRPr lang="en-US" sz="12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D5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DOMAINS 3 &amp; 4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30352" y="603504"/>
            <a:ext cx="11155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245C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Enablement &amp; Platform Operations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5440680" cy="4617720"/>
          </a:xfrm>
          <a:prstGeom prst="roundRect">
            <a:avLst>
              <a:gd name="adj" fmla="val 1782"/>
            </a:avLst>
          </a:prstGeom>
          <a:solidFill>
            <a:srgbClr val="FFFFFF"/>
          </a:solidFill>
          <a:ln w="12700">
            <a:solidFill>
              <a:srgbClr val="D9E2F2"/>
            </a:solidFill>
            <a:prstDash val="solid"/>
          </a:ln>
          <a:effectLst>
            <a:outerShdw sx="100000" sy="100000" kx="0" ky="0" algn="bl" rotWithShape="0" blurRad="88900" dist="25400" dir="5400000">
              <a:srgbClr val="9BB0D6">
                <a:alpha val="2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508760"/>
            <a:ext cx="5440680" cy="685800"/>
          </a:xfrm>
          <a:prstGeom prst="roundRect">
            <a:avLst>
              <a:gd name="adj" fmla="val 12000"/>
            </a:avLst>
          </a:prstGeom>
          <a:solidFill>
            <a:srgbClr val="00C9A7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1874520"/>
            <a:ext cx="5440680" cy="320040"/>
          </a:xfrm>
          <a:prstGeom prst="rect">
            <a:avLst/>
          </a:prstGeom>
          <a:solidFill>
            <a:srgbClr val="00C9A7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1664208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1324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ENABLEMENT — content &amp; tooling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77240" y="2423160"/>
            <a:ext cx="4937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3245C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Marketing hub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77240" y="2724912"/>
            <a:ext cx="50292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3000"/>
              </a:lnSpc>
              <a:buNone/>
            </a:pPr>
            <a:r>
              <a:rPr lang="en-US" sz="1150" dirty="0">
                <a:solidFill>
                  <a:srgbClr val="1C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Co-branded assets by category, with download tracking.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777240" y="3319272"/>
            <a:ext cx="4937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3245C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Content hub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777240" y="3621024"/>
            <a:ext cx="50292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3000"/>
              </a:lnSpc>
              <a:buNone/>
            </a:pPr>
            <a:r>
              <a:rPr lang="en-US" sz="1150" dirty="0">
                <a:solidFill>
                  <a:srgbClr val="1C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Whitepapers, datasheets, case studies &amp; FAQs with view counts.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777240" y="4215384"/>
            <a:ext cx="4937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3245C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Demo labs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777240" y="4517136"/>
            <a:ext cx="50292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3000"/>
              </a:lnSpc>
              <a:buNone/>
            </a:pPr>
            <a:r>
              <a:rPr lang="en-US" sz="1150" dirty="0">
                <a:solidFill>
                  <a:srgbClr val="1C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Bookable, time-slotted hands-on labs by service area &amp; difficulty.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777240" y="5111496"/>
            <a:ext cx="4937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3245C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Resource library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777240" y="5413248"/>
            <a:ext cx="50292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3000"/>
              </a:lnSpc>
              <a:buNone/>
            </a:pPr>
            <a:r>
              <a:rPr lang="en-US" sz="1150" dirty="0">
                <a:solidFill>
                  <a:srgbClr val="1C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Central, taggable, searchable partner resources.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199632" y="1508760"/>
            <a:ext cx="5440680" cy="4617720"/>
          </a:xfrm>
          <a:prstGeom prst="roundRect">
            <a:avLst>
              <a:gd name="adj" fmla="val 1782"/>
            </a:avLst>
          </a:prstGeom>
          <a:solidFill>
            <a:srgbClr val="FFFFFF"/>
          </a:solidFill>
          <a:ln w="12700">
            <a:solidFill>
              <a:srgbClr val="D9E2F2"/>
            </a:solidFill>
            <a:prstDash val="solid"/>
          </a:ln>
          <a:effectLst>
            <a:outerShdw sx="100000" sy="100000" kx="0" ky="0" algn="bl" rotWithShape="0" blurRad="88900" dist="25400" dir="5400000">
              <a:srgbClr val="9BB0D6">
                <a:alpha val="2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199632" y="1508760"/>
            <a:ext cx="5440680" cy="685800"/>
          </a:xfrm>
          <a:prstGeom prst="roundRect">
            <a:avLst>
              <a:gd name="adj" fmla="val 12000"/>
            </a:avLst>
          </a:prstGeom>
          <a:solidFill>
            <a:srgbClr val="13245C"/>
          </a:solidFill>
          <a:ln/>
        </p:spPr>
      </p:sp>
      <p:sp>
        <p:nvSpPr>
          <p:cNvPr id="18" name="Shape 16"/>
          <p:cNvSpPr/>
          <p:nvPr/>
        </p:nvSpPr>
        <p:spPr>
          <a:xfrm>
            <a:off x="6199632" y="1874520"/>
            <a:ext cx="5440680" cy="320040"/>
          </a:xfrm>
          <a:prstGeom prst="rect">
            <a:avLst/>
          </a:prstGeom>
          <a:solidFill>
            <a:srgbClr val="13245C"/>
          </a:solidFill>
          <a:ln/>
        </p:spPr>
      </p:sp>
      <p:sp>
        <p:nvSpPr>
          <p:cNvPr id="19" name="Text 17"/>
          <p:cNvSpPr/>
          <p:nvPr/>
        </p:nvSpPr>
        <p:spPr>
          <a:xfrm>
            <a:off x="6382512" y="1664208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OPERATIONS — Nobus staff console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428232" y="2395728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3245C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Ops console (/ncs-console)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6428232" y="2670048"/>
            <a:ext cx="507492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1C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Unlisted super-admin dashboard; separate layout.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428232" y="3127248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3245C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Org &amp; user lifecycle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6428232" y="3401568"/>
            <a:ext cx="507492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1C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Approve/reject orgs, invite, status, bulk CSV import.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428232" y="3858768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3245C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SSO / SAML</a:t>
            </a:r>
            <a:endParaRPr lang="en-US" sz="1350" dirty="0"/>
          </a:p>
        </p:txBody>
      </p:sp>
      <p:sp>
        <p:nvSpPr>
          <p:cNvPr id="25" name="Text 23"/>
          <p:cNvSpPr/>
          <p:nvPr/>
        </p:nvSpPr>
        <p:spPr>
          <a:xfrm>
            <a:off x="6428232" y="4133088"/>
            <a:ext cx="507492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1C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Per-org identity-provider configuration.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428232" y="4590288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3245C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Public API &amp; keys</a:t>
            </a:r>
            <a:endParaRPr lang="en-US" sz="1350" dirty="0"/>
          </a:p>
        </p:txBody>
      </p:sp>
      <p:sp>
        <p:nvSpPr>
          <p:cNvPr id="27" name="Text 25"/>
          <p:cNvSpPr/>
          <p:nvPr/>
        </p:nvSpPr>
        <p:spPr>
          <a:xfrm>
            <a:off x="6428232" y="4864608"/>
            <a:ext cx="507492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1C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Hashed API keys, scopes, expiry, self-serve docs.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428232" y="5321808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3245C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Reporting &amp; audit</a:t>
            </a:r>
            <a:endParaRPr lang="en-US" sz="1350" dirty="0"/>
          </a:p>
        </p:txBody>
      </p:sp>
      <p:sp>
        <p:nvSpPr>
          <p:cNvPr id="29" name="Text 27"/>
          <p:cNvSpPr/>
          <p:nvPr/>
        </p:nvSpPr>
        <p:spPr>
          <a:xfrm>
            <a:off x="6428232" y="5596128"/>
            <a:ext cx="507492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1C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CSV exports (users/orgs/progress), audit trail, quiz policies.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D5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 LOGIC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30352" y="603504"/>
            <a:ext cx="11155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245C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The Partner Tier Engine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1C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Tiers are computed from how many staff each partner has trained per role. Roles are weighted (Sales ×1.0, Presales ×1.5, Technical ×2.0) and thresholds gate each level. Higher tiers unlock richer benefits.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4572000"/>
            <a:ext cx="2084832" cy="1005840"/>
          </a:xfrm>
          <a:prstGeom prst="roundRect">
            <a:avLst>
              <a:gd name="adj" fmla="val 7273"/>
            </a:avLst>
          </a:prstGeom>
          <a:solidFill>
            <a:srgbClr val="8AB0FF"/>
          </a:solidFill>
          <a:ln/>
          <a:effectLst>
            <a:outerShdw sx="100000" sy="100000" kx="0" ky="0" algn="bl" rotWithShape="0" blurRad="76200" dist="25400" dir="5400000">
              <a:srgbClr val="9BB0D6">
                <a:alpha val="3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48640" y="4681728"/>
            <a:ext cx="208483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Registered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58368" y="5074920"/>
            <a:ext cx="1865376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03000"/>
              </a:lnSpc>
              <a:buNone/>
            </a:pPr>
            <a:r>
              <a:rPr lang="en-US" sz="1050" dirty="0">
                <a:solidFill>
                  <a:srgbClr val="1324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Portal + deal registration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548640" y="5669280"/>
            <a:ext cx="20848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5A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 1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779776" y="4041648"/>
            <a:ext cx="2084832" cy="1536192"/>
          </a:xfrm>
          <a:prstGeom prst="roundRect">
            <a:avLst>
              <a:gd name="adj" fmla="val 4762"/>
            </a:avLst>
          </a:prstGeom>
          <a:solidFill>
            <a:srgbClr val="5A8BFF"/>
          </a:solidFill>
          <a:ln/>
          <a:effectLst>
            <a:outerShdw sx="100000" sy="100000" kx="0" ky="0" algn="bl" rotWithShape="0" blurRad="76200" dist="25400" dir="5400000">
              <a:srgbClr val="9BB0D6">
                <a:alpha val="3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2779776" y="4151376"/>
            <a:ext cx="208483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Silver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2889504" y="4544568"/>
            <a:ext cx="1865376" cy="9418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03000"/>
              </a:lnSpc>
              <a:buNone/>
            </a:pPr>
            <a:r>
              <a:rPr lang="en-US" sz="1050" dirty="0">
                <a:solidFill>
                  <a:srgbClr val="1324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Co-marketing + logo use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2779776" y="5669280"/>
            <a:ext cx="20848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5A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 2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010912" y="3511296"/>
            <a:ext cx="2084832" cy="2066544"/>
          </a:xfrm>
          <a:prstGeom prst="roundRect">
            <a:avLst>
              <a:gd name="adj" fmla="val 3540"/>
            </a:avLst>
          </a:prstGeom>
          <a:solidFill>
            <a:srgbClr val="2E6BFF"/>
          </a:solidFill>
          <a:ln/>
          <a:effectLst>
            <a:outerShdw sx="100000" sy="100000" kx="0" ky="0" algn="bl" rotWithShape="0" blurRad="76200" dist="25400" dir="5400000">
              <a:srgbClr val="9BB0D6">
                <a:alpha val="3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5010912" y="3621024"/>
            <a:ext cx="208483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Gold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5120640" y="4014216"/>
            <a:ext cx="1865376" cy="14721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03000"/>
              </a:lnSpc>
              <a:buNone/>
            </a:pPr>
            <a:r>
              <a:rPr lang="en-US" sz="1050" dirty="0">
                <a:solidFill>
                  <a:srgbClr val="E6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MDF + priority SLA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5010912" y="5669280"/>
            <a:ext cx="20848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5A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 3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7242048" y="2980944"/>
            <a:ext cx="2084832" cy="2596896"/>
          </a:xfrm>
          <a:prstGeom prst="roundRect">
            <a:avLst>
              <a:gd name="adj" fmla="val 3509"/>
            </a:avLst>
          </a:prstGeom>
          <a:solidFill>
            <a:srgbClr val="1D54E8"/>
          </a:solidFill>
          <a:ln/>
          <a:effectLst>
            <a:outerShdw sx="100000" sy="100000" kx="0" ky="0" algn="bl" rotWithShape="0" blurRad="76200" dist="25400" dir="5400000">
              <a:srgbClr val="9BB0D6">
                <a:alpha val="3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7242048" y="3090672"/>
            <a:ext cx="208483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Platinum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7351776" y="3483864"/>
            <a:ext cx="1865376" cy="20025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03000"/>
              </a:lnSpc>
              <a:buNone/>
            </a:pPr>
            <a:r>
              <a:rPr lang="en-US" sz="1050" dirty="0">
                <a:solidFill>
                  <a:srgbClr val="E6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Partner manager + QBRs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7242048" y="5669280"/>
            <a:ext cx="20848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5A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 4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9473184" y="2450592"/>
            <a:ext cx="2084832" cy="3127248"/>
          </a:xfrm>
          <a:prstGeom prst="roundRect">
            <a:avLst>
              <a:gd name="adj" fmla="val 3509"/>
            </a:avLst>
          </a:prstGeom>
          <a:solidFill>
            <a:srgbClr val="13245C"/>
          </a:solidFill>
          <a:ln/>
          <a:effectLst>
            <a:outerShdw sx="100000" sy="100000" kx="0" ky="0" algn="bl" rotWithShape="0" blurRad="76200" dist="25400" dir="5400000">
              <a:srgbClr val="9BB0D6">
                <a:alpha val="30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9473184" y="2560320"/>
            <a:ext cx="208483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Elite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9582912" y="2953512"/>
            <a:ext cx="1865376" cy="25328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03000"/>
              </a:lnSpc>
              <a:buNone/>
            </a:pPr>
            <a:r>
              <a:rPr lang="en-US" sz="1050" dirty="0">
                <a:solidFill>
                  <a:srgbClr val="E6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Premier status + top margin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9473184" y="5669280"/>
            <a:ext cx="20848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5A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 5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548640" y="6053328"/>
            <a:ext cx="11091672" cy="292608"/>
          </a:xfrm>
          <a:prstGeom prst="rightArrow">
            <a:avLst/>
          </a:prstGeom>
          <a:solidFill>
            <a:srgbClr val="DCE8FF"/>
          </a:solidFill>
          <a:ln/>
        </p:spPr>
      </p:sp>
      <p:sp>
        <p:nvSpPr>
          <p:cNvPr id="26" name="Text 24"/>
          <p:cNvSpPr/>
          <p:nvPr/>
        </p:nvSpPr>
        <p:spPr>
          <a:xfrm>
            <a:off x="548640" y="6062472"/>
            <a:ext cx="110916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i="1" dirty="0">
                <a:solidFill>
                  <a:srgbClr val="1324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Growing capability  →  higher tier  →  more benefits</a:t>
            </a:r>
            <a:endParaRPr lang="en-US" sz="11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D5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30352" y="603504"/>
            <a:ext cx="11155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245C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Technology Stack &amp; Operations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3593592" cy="27432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D9E2F2"/>
            </a:solidFill>
            <a:prstDash val="solid"/>
          </a:ln>
          <a:effectLst>
            <a:outerShdw sx="100000" sy="100000" kx="0" ky="0" algn="bl" rotWithShape="0" blurRad="88900" dist="25400" dir="5400000">
              <a:srgbClr val="9BB0D6">
                <a:alpha val="2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22960" y="1709928"/>
            <a:ext cx="31363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D54E8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Frontend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841248" y="2340864"/>
            <a:ext cx="100584" cy="100584"/>
          </a:xfrm>
          <a:prstGeom prst="ellipse">
            <a:avLst/>
          </a:prstGeom>
          <a:solidFill>
            <a:srgbClr val="00C9A7"/>
          </a:solidFill>
          <a:ln/>
        </p:spPr>
      </p:sp>
      <p:sp>
        <p:nvSpPr>
          <p:cNvPr id="7" name="Text 5"/>
          <p:cNvSpPr/>
          <p:nvPr/>
        </p:nvSpPr>
        <p:spPr>
          <a:xfrm>
            <a:off x="1051560" y="2240280"/>
            <a:ext cx="2907792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C2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React 18.3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841248" y="2724912"/>
            <a:ext cx="100584" cy="100584"/>
          </a:xfrm>
          <a:prstGeom prst="ellipse">
            <a:avLst/>
          </a:prstGeom>
          <a:solidFill>
            <a:srgbClr val="00C9A7"/>
          </a:solidFill>
          <a:ln/>
        </p:spPr>
      </p:sp>
      <p:sp>
        <p:nvSpPr>
          <p:cNvPr id="9" name="Text 7"/>
          <p:cNvSpPr/>
          <p:nvPr/>
        </p:nvSpPr>
        <p:spPr>
          <a:xfrm>
            <a:off x="1051560" y="2624328"/>
            <a:ext cx="2907792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C2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Vite 5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841248" y="3108960"/>
            <a:ext cx="100584" cy="100584"/>
          </a:xfrm>
          <a:prstGeom prst="ellipse">
            <a:avLst/>
          </a:prstGeom>
          <a:solidFill>
            <a:srgbClr val="00C9A7"/>
          </a:solidFill>
          <a:ln/>
        </p:spPr>
      </p:sp>
      <p:sp>
        <p:nvSpPr>
          <p:cNvPr id="11" name="Text 9"/>
          <p:cNvSpPr/>
          <p:nvPr/>
        </p:nvSpPr>
        <p:spPr>
          <a:xfrm>
            <a:off x="1051560" y="3008376"/>
            <a:ext cx="2907792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C2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Tailwind CSS 3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841248" y="3493008"/>
            <a:ext cx="100584" cy="100584"/>
          </a:xfrm>
          <a:prstGeom prst="ellipse">
            <a:avLst/>
          </a:prstGeom>
          <a:solidFill>
            <a:srgbClr val="00C9A7"/>
          </a:solidFill>
          <a:ln/>
        </p:spPr>
      </p:sp>
      <p:sp>
        <p:nvSpPr>
          <p:cNvPr id="13" name="Text 11"/>
          <p:cNvSpPr/>
          <p:nvPr/>
        </p:nvSpPr>
        <p:spPr>
          <a:xfrm>
            <a:off x="1051560" y="3392424"/>
            <a:ext cx="2907792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C2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React Router 6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41248" y="3877056"/>
            <a:ext cx="100584" cy="100584"/>
          </a:xfrm>
          <a:prstGeom prst="ellipse">
            <a:avLst/>
          </a:prstGeom>
          <a:solidFill>
            <a:srgbClr val="00C9A7"/>
          </a:solidFill>
          <a:ln/>
        </p:spPr>
      </p:sp>
      <p:sp>
        <p:nvSpPr>
          <p:cNvPr id="15" name="Text 13"/>
          <p:cNvSpPr/>
          <p:nvPr/>
        </p:nvSpPr>
        <p:spPr>
          <a:xfrm>
            <a:off x="1051560" y="3776472"/>
            <a:ext cx="2907792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C2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lucide-react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325112" y="1508760"/>
            <a:ext cx="3593592" cy="27432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D9E2F2"/>
            </a:solidFill>
            <a:prstDash val="solid"/>
          </a:ln>
          <a:effectLst>
            <a:outerShdw sx="100000" sy="100000" kx="0" ky="0" algn="bl" rotWithShape="0" blurRad="88900" dist="25400" dir="5400000">
              <a:srgbClr val="9BB0D6">
                <a:alpha val="2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599432" y="1709928"/>
            <a:ext cx="31363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D54E8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Backend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4617720" y="2340864"/>
            <a:ext cx="100584" cy="100584"/>
          </a:xfrm>
          <a:prstGeom prst="ellipse">
            <a:avLst/>
          </a:prstGeom>
          <a:solidFill>
            <a:srgbClr val="00C9A7"/>
          </a:solidFill>
          <a:ln/>
        </p:spPr>
      </p:sp>
      <p:sp>
        <p:nvSpPr>
          <p:cNvPr id="19" name="Text 17"/>
          <p:cNvSpPr/>
          <p:nvPr/>
        </p:nvSpPr>
        <p:spPr>
          <a:xfrm>
            <a:off x="4828032" y="2240280"/>
            <a:ext cx="2907792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C2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Node + Express 4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617720" y="2724912"/>
            <a:ext cx="100584" cy="100584"/>
          </a:xfrm>
          <a:prstGeom prst="ellipse">
            <a:avLst/>
          </a:prstGeom>
          <a:solidFill>
            <a:srgbClr val="00C9A7"/>
          </a:solidFill>
          <a:ln/>
        </p:spPr>
      </p:sp>
      <p:sp>
        <p:nvSpPr>
          <p:cNvPr id="21" name="Text 19"/>
          <p:cNvSpPr/>
          <p:nvPr/>
        </p:nvSpPr>
        <p:spPr>
          <a:xfrm>
            <a:off x="4828032" y="2624328"/>
            <a:ext cx="2907792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C2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better-sqlite3 11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617720" y="3108960"/>
            <a:ext cx="100584" cy="100584"/>
          </a:xfrm>
          <a:prstGeom prst="ellipse">
            <a:avLst/>
          </a:prstGeom>
          <a:solidFill>
            <a:srgbClr val="00C9A7"/>
          </a:solidFill>
          <a:ln/>
        </p:spPr>
      </p:sp>
      <p:sp>
        <p:nvSpPr>
          <p:cNvPr id="23" name="Text 21"/>
          <p:cNvSpPr/>
          <p:nvPr/>
        </p:nvSpPr>
        <p:spPr>
          <a:xfrm>
            <a:off x="4828032" y="3008376"/>
            <a:ext cx="2907792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C2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jsonwebtoken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617720" y="3493008"/>
            <a:ext cx="100584" cy="100584"/>
          </a:xfrm>
          <a:prstGeom prst="ellipse">
            <a:avLst/>
          </a:prstGeom>
          <a:solidFill>
            <a:srgbClr val="00C9A7"/>
          </a:solidFill>
          <a:ln/>
        </p:spPr>
      </p:sp>
      <p:sp>
        <p:nvSpPr>
          <p:cNvPr id="25" name="Text 23"/>
          <p:cNvSpPr/>
          <p:nvPr/>
        </p:nvSpPr>
        <p:spPr>
          <a:xfrm>
            <a:off x="4828032" y="3392424"/>
            <a:ext cx="2907792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C2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bcryptjs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4617720" y="3877056"/>
            <a:ext cx="100584" cy="100584"/>
          </a:xfrm>
          <a:prstGeom prst="ellipse">
            <a:avLst/>
          </a:prstGeom>
          <a:solidFill>
            <a:srgbClr val="00C9A7"/>
          </a:solidFill>
          <a:ln/>
        </p:spPr>
      </p:sp>
      <p:sp>
        <p:nvSpPr>
          <p:cNvPr id="27" name="Text 25"/>
          <p:cNvSpPr/>
          <p:nvPr/>
        </p:nvSpPr>
        <p:spPr>
          <a:xfrm>
            <a:off x="4828032" y="3776472"/>
            <a:ext cx="2907792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C2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helmet + rate-limit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8101584" y="1508760"/>
            <a:ext cx="3593592" cy="27432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D9E2F2"/>
            </a:solidFill>
            <a:prstDash val="solid"/>
          </a:ln>
          <a:effectLst>
            <a:outerShdw sx="100000" sy="100000" kx="0" ky="0" algn="bl" rotWithShape="0" blurRad="88900" dist="25400" dir="5400000">
              <a:srgbClr val="9BB0D6">
                <a:alpha val="28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8375904" y="1709928"/>
            <a:ext cx="31363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D54E8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Generation &amp; I/O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8394192" y="2340864"/>
            <a:ext cx="100584" cy="100584"/>
          </a:xfrm>
          <a:prstGeom prst="ellipse">
            <a:avLst/>
          </a:prstGeom>
          <a:solidFill>
            <a:srgbClr val="00C9A7"/>
          </a:solidFill>
          <a:ln/>
        </p:spPr>
      </p:sp>
      <p:sp>
        <p:nvSpPr>
          <p:cNvPr id="31" name="Text 29"/>
          <p:cNvSpPr/>
          <p:nvPr/>
        </p:nvSpPr>
        <p:spPr>
          <a:xfrm>
            <a:off x="8604504" y="2240280"/>
            <a:ext cx="2907792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C2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pdfkit (certs/quotes)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8394192" y="2724912"/>
            <a:ext cx="100584" cy="100584"/>
          </a:xfrm>
          <a:prstGeom prst="ellipse">
            <a:avLst/>
          </a:prstGeom>
          <a:solidFill>
            <a:srgbClr val="00C9A7"/>
          </a:solidFill>
          <a:ln/>
        </p:spPr>
      </p:sp>
      <p:sp>
        <p:nvSpPr>
          <p:cNvPr id="33" name="Text 31"/>
          <p:cNvSpPr/>
          <p:nvPr/>
        </p:nvSpPr>
        <p:spPr>
          <a:xfrm>
            <a:off x="8604504" y="2624328"/>
            <a:ext cx="2907792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C2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exceljs (XLSX)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8394192" y="3108960"/>
            <a:ext cx="100584" cy="100584"/>
          </a:xfrm>
          <a:prstGeom prst="ellipse">
            <a:avLst/>
          </a:prstGeom>
          <a:solidFill>
            <a:srgbClr val="00C9A7"/>
          </a:solidFill>
          <a:ln/>
        </p:spPr>
      </p:sp>
      <p:sp>
        <p:nvSpPr>
          <p:cNvPr id="35" name="Text 33"/>
          <p:cNvSpPr/>
          <p:nvPr/>
        </p:nvSpPr>
        <p:spPr>
          <a:xfrm>
            <a:off x="8604504" y="3008376"/>
            <a:ext cx="2907792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C2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multer (uploads)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8394192" y="3493008"/>
            <a:ext cx="100584" cy="100584"/>
          </a:xfrm>
          <a:prstGeom prst="ellipse">
            <a:avLst/>
          </a:prstGeom>
          <a:solidFill>
            <a:srgbClr val="00C9A7"/>
          </a:solidFill>
          <a:ln/>
        </p:spPr>
      </p:sp>
      <p:sp>
        <p:nvSpPr>
          <p:cNvPr id="37" name="Text 35"/>
          <p:cNvSpPr/>
          <p:nvPr/>
        </p:nvSpPr>
        <p:spPr>
          <a:xfrm>
            <a:off x="8604504" y="3392424"/>
            <a:ext cx="2907792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C2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csv-parse (import)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8394192" y="3877056"/>
            <a:ext cx="100584" cy="100584"/>
          </a:xfrm>
          <a:prstGeom prst="ellipse">
            <a:avLst/>
          </a:prstGeom>
          <a:solidFill>
            <a:srgbClr val="00C9A7"/>
          </a:solidFill>
          <a:ln/>
        </p:spPr>
      </p:sp>
      <p:sp>
        <p:nvSpPr>
          <p:cNvPr id="39" name="Text 37"/>
          <p:cNvSpPr/>
          <p:nvPr/>
        </p:nvSpPr>
        <p:spPr>
          <a:xfrm>
            <a:off x="8604504" y="3776472"/>
            <a:ext cx="2907792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C2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nodemailer (email)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548640" y="4480560"/>
            <a:ext cx="11091672" cy="1783080"/>
          </a:xfrm>
          <a:prstGeom prst="roundRect">
            <a:avLst>
              <a:gd name="adj" fmla="val 4615"/>
            </a:avLst>
          </a:prstGeom>
          <a:solidFill>
            <a:srgbClr val="13245C"/>
          </a:solidFill>
          <a:ln w="12700">
            <a:solidFill>
              <a:srgbClr val="13245C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777240" y="46177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OPERATIONAL CHARACTERISTICS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777240" y="5029200"/>
            <a:ext cx="53949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deployable  —  </a:t>
            </a:r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 served from /dist by the same Express process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6263640" y="5029200"/>
            <a:ext cx="53949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Zero-DBMS ops  —  </a:t>
            </a:r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Embedded SQLite in WAL mode — no DB server to run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777240" y="5669280"/>
            <a:ext cx="53949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Stable sessions  —  </a:t>
            </a:r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JWT_SECRET so tokens survive restarts</a:t>
            </a:r>
            <a:endParaRPr lang="en-US" sz="1200" dirty="0"/>
          </a:p>
        </p:txBody>
      </p:sp>
      <p:sp>
        <p:nvSpPr>
          <p:cNvPr id="45" name="Text 43"/>
          <p:cNvSpPr/>
          <p:nvPr/>
        </p:nvSpPr>
        <p:spPr>
          <a:xfrm>
            <a:off x="6263640" y="5669280"/>
            <a:ext cx="53949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Configurable  —  </a:t>
            </a:r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CORS_ORIGINS, DB_PATH, PORT via environment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324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3716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PEER REVIEW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30352" y="178308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Over to the Reviewers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548640" y="2743200"/>
            <a:ext cx="89611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deck pairs with two review tools — an Excel scoring workbook and a printable Word checklist — covering architecture, security, data model, features, code quality, UX and operations. Score each area, log comments, and track adjustments to close-out.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4206240"/>
            <a:ext cx="3566160" cy="658368"/>
          </a:xfrm>
          <a:prstGeom prst="roundRect">
            <a:avLst>
              <a:gd name="adj" fmla="val 13889"/>
            </a:avLst>
          </a:prstGeom>
          <a:solidFill>
            <a:srgbClr val="1B336E"/>
          </a:solidFill>
          <a:ln w="12700">
            <a:solidFill>
              <a:srgbClr val="2E6B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49808" y="4425696"/>
            <a:ext cx="219456" cy="219456"/>
          </a:xfrm>
          <a:prstGeom prst="ellipse">
            <a:avLst/>
          </a:prstGeom>
          <a:solidFill>
            <a:srgbClr val="00C9A7"/>
          </a:solidFill>
          <a:ln/>
        </p:spPr>
      </p:sp>
      <p:sp>
        <p:nvSpPr>
          <p:cNvPr id="7" name="Text 5"/>
          <p:cNvSpPr/>
          <p:nvPr/>
        </p:nvSpPr>
        <p:spPr>
          <a:xfrm>
            <a:off x="1097280" y="4206240"/>
            <a:ext cx="29260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&amp; design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325112" y="4206240"/>
            <a:ext cx="3566160" cy="658368"/>
          </a:xfrm>
          <a:prstGeom prst="roundRect">
            <a:avLst>
              <a:gd name="adj" fmla="val 13889"/>
            </a:avLst>
          </a:prstGeom>
          <a:solidFill>
            <a:srgbClr val="1B336E"/>
          </a:solidFill>
          <a:ln w="12700">
            <a:solidFill>
              <a:srgbClr val="2E6BF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26280" y="4425696"/>
            <a:ext cx="219456" cy="219456"/>
          </a:xfrm>
          <a:prstGeom prst="ellipse">
            <a:avLst/>
          </a:prstGeom>
          <a:solidFill>
            <a:srgbClr val="00C9A7"/>
          </a:solidFill>
          <a:ln/>
        </p:spPr>
      </p:sp>
      <p:sp>
        <p:nvSpPr>
          <p:cNvPr id="10" name="Text 8"/>
          <p:cNvSpPr/>
          <p:nvPr/>
        </p:nvSpPr>
        <p:spPr>
          <a:xfrm>
            <a:off x="4873752" y="4206240"/>
            <a:ext cx="29260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&amp; auth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8101584" y="4206240"/>
            <a:ext cx="3566160" cy="658368"/>
          </a:xfrm>
          <a:prstGeom prst="roundRect">
            <a:avLst>
              <a:gd name="adj" fmla="val 13889"/>
            </a:avLst>
          </a:prstGeom>
          <a:solidFill>
            <a:srgbClr val="1B336E"/>
          </a:solidFill>
          <a:ln w="12700">
            <a:solidFill>
              <a:srgbClr val="2E6BF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302752" y="4425696"/>
            <a:ext cx="219456" cy="219456"/>
          </a:xfrm>
          <a:prstGeom prst="ellipse">
            <a:avLst/>
          </a:prstGeom>
          <a:solidFill>
            <a:srgbClr val="00C9A7"/>
          </a:solidFill>
          <a:ln/>
        </p:spPr>
      </p:sp>
      <p:sp>
        <p:nvSpPr>
          <p:cNvPr id="13" name="Text 11"/>
          <p:cNvSpPr/>
          <p:nvPr/>
        </p:nvSpPr>
        <p:spPr>
          <a:xfrm>
            <a:off x="8650224" y="4206240"/>
            <a:ext cx="29260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model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48640" y="5074920"/>
            <a:ext cx="3566160" cy="658368"/>
          </a:xfrm>
          <a:prstGeom prst="roundRect">
            <a:avLst>
              <a:gd name="adj" fmla="val 13889"/>
            </a:avLst>
          </a:prstGeom>
          <a:solidFill>
            <a:srgbClr val="1B336E"/>
          </a:solidFill>
          <a:ln w="12700">
            <a:solidFill>
              <a:srgbClr val="2E6BF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49808" y="5294376"/>
            <a:ext cx="219456" cy="219456"/>
          </a:xfrm>
          <a:prstGeom prst="ellipse">
            <a:avLst/>
          </a:prstGeom>
          <a:solidFill>
            <a:srgbClr val="00C9A7"/>
          </a:solidFill>
          <a:ln/>
        </p:spPr>
      </p:sp>
      <p:sp>
        <p:nvSpPr>
          <p:cNvPr id="16" name="Text 14"/>
          <p:cNvSpPr/>
          <p:nvPr/>
        </p:nvSpPr>
        <p:spPr>
          <a:xfrm>
            <a:off x="1097280" y="5074920"/>
            <a:ext cx="29260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 &amp; UX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325112" y="5074920"/>
            <a:ext cx="3566160" cy="658368"/>
          </a:xfrm>
          <a:prstGeom prst="roundRect">
            <a:avLst>
              <a:gd name="adj" fmla="val 13889"/>
            </a:avLst>
          </a:prstGeom>
          <a:solidFill>
            <a:srgbClr val="1B336E"/>
          </a:solidFill>
          <a:ln w="12700">
            <a:solidFill>
              <a:srgbClr val="2E6BF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526280" y="5294376"/>
            <a:ext cx="219456" cy="219456"/>
          </a:xfrm>
          <a:prstGeom prst="ellipse">
            <a:avLst/>
          </a:prstGeom>
          <a:solidFill>
            <a:srgbClr val="00C9A7"/>
          </a:solidFill>
          <a:ln/>
        </p:spPr>
      </p:sp>
      <p:sp>
        <p:nvSpPr>
          <p:cNvPr id="19" name="Text 17"/>
          <p:cNvSpPr/>
          <p:nvPr/>
        </p:nvSpPr>
        <p:spPr>
          <a:xfrm>
            <a:off x="4873752" y="5074920"/>
            <a:ext cx="29260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quality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8101584" y="5074920"/>
            <a:ext cx="3566160" cy="658368"/>
          </a:xfrm>
          <a:prstGeom prst="roundRect">
            <a:avLst>
              <a:gd name="adj" fmla="val 13889"/>
            </a:avLst>
          </a:prstGeom>
          <a:solidFill>
            <a:srgbClr val="1B336E"/>
          </a:solidFill>
          <a:ln w="12700">
            <a:solidFill>
              <a:srgbClr val="2E6BF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302752" y="5294376"/>
            <a:ext cx="219456" cy="219456"/>
          </a:xfrm>
          <a:prstGeom prst="ellipse">
            <a:avLst/>
          </a:prstGeom>
          <a:solidFill>
            <a:srgbClr val="00C9A7"/>
          </a:solidFill>
          <a:ln/>
        </p:spPr>
      </p:sp>
      <p:sp>
        <p:nvSpPr>
          <p:cNvPr id="22" name="Text 20"/>
          <p:cNvSpPr/>
          <p:nvPr/>
        </p:nvSpPr>
        <p:spPr>
          <a:xfrm>
            <a:off x="8650224" y="5074920"/>
            <a:ext cx="29260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Operations &amp; docs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48640" y="6355080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8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Nobus Cloud Services  ·  PartnerCentral v2.0  ·  Confidential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Nobus Cloud Services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Nobus PartnerCentral — Architecture &amp; Features</dc:title>
  <dc:subject>PptxGenJS Presentation</dc:subject>
  <dc:creator>Nobus Cloud Services</dc:creator>
  <cp:lastModifiedBy>Nobus Cloud Services</cp:lastModifiedBy>
  <cp:revision>1</cp:revision>
  <dcterms:created xsi:type="dcterms:W3CDTF">2026-07-22T08:37:34Z</dcterms:created>
  <dcterms:modified xsi:type="dcterms:W3CDTF">2026-07-22T08:37:34Z</dcterms:modified>
</cp:coreProperties>
</file>